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820" r:id="rId5"/>
    <p:sldId id="822" r:id="rId6"/>
    <p:sldId id="824" r:id="rId7"/>
    <p:sldId id="832" r:id="rId8"/>
    <p:sldId id="834" r:id="rId9"/>
    <p:sldId id="836" r:id="rId10"/>
    <p:sldId id="838" r:id="rId11"/>
    <p:sldId id="835" r:id="rId12"/>
    <p:sldId id="837" r:id="rId13"/>
    <p:sldId id="839" r:id="rId14"/>
    <p:sldId id="83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2F08"/>
    <a:srgbClr val="E3CBBA"/>
    <a:srgbClr val="853F00"/>
    <a:srgbClr val="F7F7F7"/>
    <a:srgbClr val="E6E6E6"/>
    <a:srgbClr val="1C1E26"/>
    <a:srgbClr val="303342"/>
    <a:srgbClr val="485F74"/>
    <a:srgbClr val="354655"/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4080"/>
        <p:guide pos="3840"/>
      </p:guideLst>
    </p:cSldViewPr>
  </p:slideViewPr>
  <p:outlineViewPr>
    <p:cViewPr>
      <p:scale>
        <a:sx n="75" d="100"/>
        <a:sy n="75" d="100"/>
      </p:scale>
      <p:origin x="0" y="-13704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57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48351"/>
            <a:ext cx="10515600" cy="762338"/>
          </a:xfrm>
        </p:spPr>
        <p:txBody>
          <a:bodyPr>
            <a:normAutofit/>
          </a:bodyPr>
          <a:lstStyle>
            <a:lvl1pPr algn="ctr">
              <a:defRPr sz="1800" b="1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1500" y="1500330"/>
            <a:ext cx="3429000" cy="325526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3784" y="1017127"/>
            <a:ext cx="3259239" cy="638050"/>
          </a:xfrm>
        </p:spPr>
        <p:txBody>
          <a:bodyPr tIns="0" bIns="0" anchor="b">
            <a:normAutofit/>
          </a:bodyPr>
          <a:lstStyle>
            <a:lvl1pPr algn="l">
              <a:lnSpc>
                <a:spcPct val="7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420D7-C2DD-AA2E-0967-246BCAC712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3784" y="1667337"/>
            <a:ext cx="3259138" cy="1635155"/>
          </a:xfrm>
        </p:spPr>
        <p:txBody>
          <a:bodyPr tIns="0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6643" y="-1"/>
            <a:ext cx="6146157" cy="3452149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CA433-95E2-FC02-373D-296793B7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59533" y="1"/>
            <a:ext cx="1232467" cy="345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34D26-5CDD-1D72-F4F5-4E8F2E8A7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52149"/>
            <a:ext cx="1232467" cy="3405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6049" y="3452149"/>
            <a:ext cx="6146157" cy="3423213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8165" y="3831219"/>
            <a:ext cx="2719830" cy="26387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13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1999" cy="1649977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012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012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FEE9A33-86BC-1ACB-FD12-3D125D7AC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752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752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C8324F-73B9-5F50-2F8B-86B0683A4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046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3046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0371E6D-BAFA-5426-4D03-3E4D6EA4E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8563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8563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D35E594-AF24-811C-7ECB-E0BC86C3A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407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407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182880" tIns="0" rIns="18288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ED80DC6-E45B-98F5-D668-F7E072808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3104" y="4942244"/>
            <a:ext cx="3345083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4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06FB3F8-975F-CDE6-AD5A-41A6C4AEFA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011" y="1204943"/>
            <a:ext cx="10252763" cy="356556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38306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504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168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Chart Placeholder 23">
            <a:extLst>
              <a:ext uri="{FF2B5EF4-FFF2-40B4-BE49-F238E27FC236}">
                <a16:creationId xmlns:a16="http://schemas.microsoft.com/office/drawing/2014/main" id="{EAFEEDA8-9219-BD40-C230-E92998E15A23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025009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20430E8-C9E5-7571-B3E8-A14938C6E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5617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5280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Chart Placeholder 23">
            <a:extLst>
              <a:ext uri="{FF2B5EF4-FFF2-40B4-BE49-F238E27FC236}">
                <a16:creationId xmlns:a16="http://schemas.microsoft.com/office/drawing/2014/main" id="{9C9FDEE4-E778-B309-F78A-B097A62D3B1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216862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3608-9448-F8A1-E942-E798931A98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6729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2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Chart Placeholder 23">
            <a:extLst>
              <a:ext uri="{FF2B5EF4-FFF2-40B4-BE49-F238E27FC236}">
                <a16:creationId xmlns:a16="http://schemas.microsoft.com/office/drawing/2014/main" id="{4B5D9EAC-E1E4-971C-4DCF-F4BA495E30D6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403565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52DFEB-4583-7D49-EB81-F63A70289A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97841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7504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Chart Placeholder 23">
            <a:extLst>
              <a:ext uri="{FF2B5EF4-FFF2-40B4-BE49-F238E27FC236}">
                <a16:creationId xmlns:a16="http://schemas.microsoft.com/office/drawing/2014/main" id="{8D104B7B-2C5C-79FE-3E90-69E9EE2BD36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9602753" y="1692604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0F91EA5-D9F1-14B5-2383-469320ED8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88952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615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18570" y="3865563"/>
            <a:ext cx="10186205" cy="224631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188" y="1806487"/>
            <a:ext cx="493262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2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26F2423-DF97-D100-BE6D-29D9EE15B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9613" y="2821450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312" y="2809756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68E93BF-5DA7-33DE-7DBC-0C6057C3B3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39613" y="3437926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1312" y="3418079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FC2E8B1-029D-44E0-1893-3916B10060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39613" y="4054403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1312" y="4026402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-1"/>
            <a:ext cx="609600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43332"/>
            <a:ext cx="6095999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328" y="309448"/>
            <a:ext cx="3231145" cy="484632"/>
          </a:xfrm>
        </p:spPr>
        <p:txBody>
          <a:bodyPr tIns="0" bIns="0" anchor="b">
            <a:normAutofit/>
          </a:bodyPr>
          <a:lstStyle>
            <a:lvl1pPr algn="l">
              <a:lnSpc>
                <a:spcPct val="100000"/>
              </a:lnSpc>
              <a:defRPr sz="1800" b="1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329" y="883387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3081" y="-11683"/>
            <a:ext cx="4114801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71414F8-DD91-4BEB-BD17-D9C191E066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175" y="245774"/>
            <a:ext cx="307206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DA3D7EC-7E91-837C-0F5C-2FA02822C2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174" y="906920"/>
            <a:ext cx="3056497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403EF5D-5D5E-DB9C-1AA6-6C838DA9DC1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22804" y="3428237"/>
            <a:ext cx="4065886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E66A002-611A-AC3C-3354-FC6A8B880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8700" y="3730892"/>
            <a:ext cx="323931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5D8040-D0AA-C720-C6C4-6B23368CD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8700" y="4417990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2DD639C-33DD-1ACB-4F21-BE087163AE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8042" y="3428237"/>
            <a:ext cx="4034118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5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8494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68507" y="1466591"/>
            <a:ext cx="10054988" cy="11851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068504" y="3109249"/>
            <a:ext cx="10054990" cy="2907792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accent1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31542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58347" y="1446271"/>
            <a:ext cx="10049920" cy="435453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A52954E-7826-2F3E-37FB-F67D5971E4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4274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3D09183F-8234-58F5-2CE4-5D000BF72E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4747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E530913-6A7A-CB72-87E9-5D3ADD650B0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75221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548FF31E-A9C5-CFCF-43B0-5EF275D7402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5694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900F4E96-BF95-1386-47A4-D14CEB09D8E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61679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E91EF67B-B01F-400D-2DC2-79A748E2A6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5393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B320C6BD-6887-1B30-627B-0AB6029E8F5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658665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9B504DC8-6E54-98FA-2461-72B7340F58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6340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0C21A6A4-EB4D-A0D0-56D0-93FB0E749A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05507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DB72A218-DAC1-2261-C0A3-B0767FD2FA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5980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C3CF0080-9BDB-00BA-29B2-9174EE3C411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6454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C6A1C08D-7BF4-5FAF-C2FF-AE5047518A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96927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A44657A-8B86-EA70-6560-03FEB781F9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74012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7">
            <a:extLst>
              <a:ext uri="{FF2B5EF4-FFF2-40B4-BE49-F238E27FC236}">
                <a16:creationId xmlns:a16="http://schemas.microsoft.com/office/drawing/2014/main" id="{8CED7DAF-DABA-4DFF-4526-79601E7E45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578746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DE375DAB-B8B1-7BFE-421A-2576642D0DB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883481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7">
            <a:extLst>
              <a:ext uri="{FF2B5EF4-FFF2-40B4-BE49-F238E27FC236}">
                <a16:creationId xmlns:a16="http://schemas.microsoft.com/office/drawing/2014/main" id="{1DC92198-D94C-7632-19D2-3D84CBD1BCB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88215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ADE4906C-8781-3D55-6709-40134F528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40305" y="4547853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17">
            <a:extLst>
              <a:ext uri="{FF2B5EF4-FFF2-40B4-BE49-F238E27FC236}">
                <a16:creationId xmlns:a16="http://schemas.microsoft.com/office/drawing/2014/main" id="{5A09A8A3-44A8-3DBC-2A4E-C534BD0439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5526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AF3FD113-A1D1-4EEF-7A6A-8D911FEFCA3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35999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17">
            <a:extLst>
              <a:ext uri="{FF2B5EF4-FFF2-40B4-BE49-F238E27FC236}">
                <a16:creationId xmlns:a16="http://schemas.microsoft.com/office/drawing/2014/main" id="{DBF1041A-E533-7269-1C16-B8F07C39D0A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66473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723620E9-23D5-45A7-B061-9B5BA0AB81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96946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857" y="2705755"/>
            <a:ext cx="3561986" cy="144649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56CA8-AE7D-1692-CD03-8052B79B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16358"/>
            <a:ext cx="7354442" cy="689071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6197"/>
            <a:ext cx="78231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4040" y="-10160"/>
            <a:ext cx="308626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66191" y="52657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D2E0A3-3A4D-815C-8C07-8058D5694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41558" y="110150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B5590F9-2D9B-7EF7-DD7B-0088DB0B18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191" y="113821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13E55D8-560B-DF34-B34D-E3A21C43B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9328" y="283105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A5A1F2-505F-747B-818F-CBE5074E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4695" y="340598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063E3D4-FEB7-9BB5-B22D-843990911C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9328" y="344269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713C15-6491-75F6-6A03-ECBBB2597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7560" y="2259981"/>
            <a:ext cx="3042920" cy="233742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00ACF-978B-E5F8-58B9-878278B3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60480" y="2270140"/>
            <a:ext cx="727584" cy="23368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96B4-52C5-47DA-6BD6-050647AE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6961" y="4599322"/>
            <a:ext cx="77707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66AD3C9-51DF-968B-BDFA-A072D79E69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4040" y="4596782"/>
            <a:ext cx="307610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6BE9D1C-5464-1BB4-DD8F-40B27F9E7E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57280" y="5261360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8A1D00-787E-E601-743F-F3A607B9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32647" y="5836289"/>
            <a:ext cx="16199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F9E3A6-F6B7-CCAC-D810-CD47EB1C5D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57280" y="5872995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9510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5A36-9B2E-CD52-C188-43035C62D7D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08" y="368658"/>
            <a:ext cx="6228732" cy="83022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0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906" y="1430936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2619741-BE88-A22C-6A3B-780557621A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906" y="2029538"/>
            <a:ext cx="6228732" cy="109076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906" y="3218958"/>
            <a:ext cx="6228732" cy="344009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9F0960D-533E-D280-6096-A2F8BAC7A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906" y="3640657"/>
            <a:ext cx="6228732" cy="344009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3906" y="4073211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1BF306D-A7D8-5086-F014-05405FA67D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906" y="4675595"/>
            <a:ext cx="6228732" cy="1154882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6560" y="-1"/>
            <a:ext cx="415544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6559" y="5243332"/>
            <a:ext cx="4155440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2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222" y="2247391"/>
            <a:ext cx="4434840" cy="762338"/>
          </a:xfrm>
          <a:noFill/>
        </p:spPr>
        <p:txBody>
          <a:bodyPr>
            <a:normAutofit/>
          </a:bodyPr>
          <a:lstStyle>
            <a:lvl1pPr algn="l">
              <a:defRPr sz="48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380" y="1730247"/>
            <a:ext cx="3657600" cy="347228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810CE0D-B662-5180-72B1-8363C2E1BD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222" y="3258237"/>
            <a:ext cx="4434840" cy="368884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92BFD6-74C7-2D2A-4F93-95F4341BAB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7222" y="3748147"/>
            <a:ext cx="4434840" cy="1454381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 b="1" cap="none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62675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A29B-5AE9-CB8D-8A2B-144DBB8BCB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43" y="365125"/>
            <a:ext cx="11100126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432AB-307E-C133-AB03-5B6286B2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1DDF95-5C6A-BFC2-3D73-E19530C8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10000"/>
            <a:lumOff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378-33F3-9133-FF97-6EFCBD42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6496-C09F-CF62-3B1A-8BD3AB12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F26F1-942C-E394-D4F4-E2C72E857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C0C1-EE54-4EF7-BCC6-9C36988C399C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F9A7-A5DA-8EAD-6359-9316AC52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CBAD-9F11-FF8A-5CB4-6C868286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588F-3268-487C-BB05-403E3E2B4B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8351"/>
            <a:ext cx="10515600" cy="762338"/>
          </a:xfrm>
        </p:spPr>
        <p:txBody>
          <a:bodyPr/>
          <a:lstStyle/>
          <a:p>
            <a:r>
              <a:rPr lang="en-US" dirty="0"/>
              <a:t>Investor Opportunity</a:t>
            </a:r>
          </a:p>
        </p:txBody>
      </p:sp>
      <p:pic>
        <p:nvPicPr>
          <p:cNvPr id="67" name="Picture Placeholder 66" descr="Logo&#10;">
            <a:extLst>
              <a:ext uri="{FF2B5EF4-FFF2-40B4-BE49-F238E27FC236}">
                <a16:creationId xmlns:a16="http://schemas.microsoft.com/office/drawing/2014/main" id="{B1DE02D0-D0E0-5DCE-FE1E-13D33FBBE43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lum bright="1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605" r="13605"/>
          <a:stretch/>
        </p:blipFill>
        <p:spPr>
          <a:xfrm>
            <a:off x="4381500" y="1500330"/>
            <a:ext cx="3429000" cy="3255264"/>
          </a:xfr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35844AC7-E488-709F-E66B-3FB7077D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5800" y="1575739"/>
            <a:ext cx="3200400" cy="3200400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6AD216A-2B04-9B33-4650-DB65A7EF93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971" b="4971"/>
          <a:stretch/>
        </p:blipFill>
        <p:spPr/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F7ACC-E359-BF97-5F6F-B6657EC65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275" y="1137237"/>
            <a:ext cx="3981450" cy="3981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46DD1C-F6C3-5BDC-C3F8-FF69AEC409D4}"/>
              </a:ext>
            </a:extLst>
          </p:cNvPr>
          <p:cNvSpPr txBox="1"/>
          <p:nvPr/>
        </p:nvSpPr>
        <p:spPr>
          <a:xfrm>
            <a:off x="7177549" y="6071258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US" sz="1800" dirty="0">
                <a:solidFill>
                  <a:schemeClr val="bg1"/>
                </a:solidFill>
              </a:rPr>
              <a:t>Presented By :- </a:t>
            </a:r>
            <a:r>
              <a:rPr lang="en-US" sz="1800">
                <a:solidFill>
                  <a:schemeClr val="bg1"/>
                </a:solidFill>
              </a:rPr>
              <a:t>Khushi Shukla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84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blurry picture of a brown object ">
            <a:extLst>
              <a:ext uri="{FF2B5EF4-FFF2-40B4-BE49-F238E27FC236}">
                <a16:creationId xmlns:a16="http://schemas.microsoft.com/office/drawing/2014/main" id="{3EFCF626-BF60-83A6-9928-EC47C59387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280489" cy="164997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5982566-9AEB-7B28-7CC1-3610F0EF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012" y="482812"/>
            <a:ext cx="9002215" cy="6380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lide Number Placeholder 111">
            <a:extLst>
              <a:ext uri="{FF2B5EF4-FFF2-40B4-BE49-F238E27FC236}">
                <a16:creationId xmlns:a16="http://schemas.microsoft.com/office/drawing/2014/main" id="{C2473CCA-E6BE-9F22-ABE5-4023205A1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8D9F71-E923-A644-FB77-2EDB784C95C5}"/>
              </a:ext>
            </a:extLst>
          </p:cNvPr>
          <p:cNvSpPr txBox="1"/>
          <p:nvPr/>
        </p:nvSpPr>
        <p:spPr>
          <a:xfrm>
            <a:off x="381740" y="2625212"/>
            <a:ext cx="57142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chocolate industry is highly competitive.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revenue trends, product performance, and sales effectiveness is critical.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identifies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markets, products, and salespersons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guide business strategy.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C37D649-C8DC-181D-B9A2-4D5A31000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649976"/>
            <a:ext cx="5486400" cy="520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1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AE726D-AF68-DE22-83E9-889C52037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87" y="221035"/>
            <a:ext cx="4932625" cy="63805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Problem Statement</a:t>
            </a:r>
            <a:endParaRPr lang="en-US" dirty="0"/>
          </a:p>
        </p:txBody>
      </p:sp>
      <p:pic>
        <p:nvPicPr>
          <p:cNvPr id="14" name="Picture Placeholder 13" descr="A person pouring milk into a glass of coffee ">
            <a:extLst>
              <a:ext uri="{FF2B5EF4-FFF2-40B4-BE49-F238E27FC236}">
                <a16:creationId xmlns:a16="http://schemas.microsoft.com/office/drawing/2014/main" id="{301670F8-2E6E-6717-C1DC-15F206EDD5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"/>
            <a:ext cx="6096000" cy="5243333"/>
          </a:xfrm>
        </p:spPr>
      </p:pic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052C768-C598-19FB-127E-C6CA7BEC9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8A8F6-4583-394D-E458-95A7A2820C1B}"/>
              </a:ext>
            </a:extLst>
          </p:cNvPr>
          <p:cNvSpPr txBox="1"/>
          <p:nvPr/>
        </p:nvSpPr>
        <p:spPr>
          <a:xfrm>
            <a:off x="383459" y="1347019"/>
            <a:ext cx="532908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monthly revenues trend over time?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contribute the most revenue?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drive revenue across markets?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top-performing salespersons?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strategies can improve growth in weaker areas?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46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FFEA6F-FBF5-0C7A-39B7-954D2693D81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4809" y="2274118"/>
            <a:ext cx="5649865" cy="11548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peaked in Jan ($900K) and Jun ($865K).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revenue in Apr ($675K).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fluctuations indicate opportunities for festival-based promotions.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8462C6F-3FE0-B7FC-EA44-514D19D4A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F3703AAC-CA9D-B856-FD3B-B3B701806B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4"/>
            <a:ext cx="12280489" cy="1649977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6AECFB-5BEA-DE50-FAF3-FF8408AAFEC9}"/>
              </a:ext>
            </a:extLst>
          </p:cNvPr>
          <p:cNvSpPr txBox="1"/>
          <p:nvPr/>
        </p:nvSpPr>
        <p:spPr>
          <a:xfrm>
            <a:off x="1612490" y="403498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Monthly Revenue Trend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1177CB4-8C2B-167D-6702-E1D78667B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27" y="2053476"/>
            <a:ext cx="5934673" cy="408185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B712FF2-FD1A-1549-7C87-277E4A7AAC56}"/>
              </a:ext>
            </a:extLst>
          </p:cNvPr>
          <p:cNvSpPr txBox="1"/>
          <p:nvPr/>
        </p:nvSpPr>
        <p:spPr>
          <a:xfrm>
            <a:off x="284809" y="5488999"/>
            <a:ext cx="58111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stabilizing revenue dips by introducing campaigns in low months.</a:t>
            </a:r>
          </a:p>
        </p:txBody>
      </p:sp>
    </p:spTree>
    <p:extLst>
      <p:ext uri="{BB962C8B-B14F-4D97-AF65-F5344CB8AC3E}">
        <p14:creationId xmlns:p14="http://schemas.microsoft.com/office/powerpoint/2010/main" val="237568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2F97-90B6-5DFE-EB3E-D6240E64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0C7E950-50F5-0E2D-FA6C-4A53AB58CE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4809" y="2274118"/>
            <a:ext cx="5649865" cy="11548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 leads with $1.14M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UK, India and USA follow closely.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&amp; New Zealand lag behind.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D336A08-E9FD-B13B-9DEA-A4FAD4824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6B5DA6C7-2090-06CE-639A-30CEB4CB53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4"/>
            <a:ext cx="12280489" cy="1649977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23D885C-3CAF-787B-2E14-98B2B028410F}"/>
              </a:ext>
            </a:extLst>
          </p:cNvPr>
          <p:cNvSpPr txBox="1"/>
          <p:nvPr/>
        </p:nvSpPr>
        <p:spPr>
          <a:xfrm>
            <a:off x="1612490" y="403498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Revenue by Country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43BCCB-9114-DA57-D1DE-154B3E908BF2}"/>
              </a:ext>
            </a:extLst>
          </p:cNvPr>
          <p:cNvSpPr txBox="1"/>
          <p:nvPr/>
        </p:nvSpPr>
        <p:spPr>
          <a:xfrm>
            <a:off x="284809" y="5488999"/>
            <a:ext cx="56498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 distribution/marketing in Canada &amp; New Zealand while maintaining stronghold in Australia.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2AC978-965D-2BB2-E783-FD397826F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29" y="1923172"/>
            <a:ext cx="5934672" cy="427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9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FB21-2DC4-B439-CF6A-BF8541E1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70B7EF2-7607-7CE2-7D65-D8F9B6F615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4809" y="1917290"/>
            <a:ext cx="5649865" cy="11548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Andria Kimpton is top performer ($200K revenue).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Mallorie &amp; Camilla also strong contributors.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Wilone O’Kielt lags behind.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BDF31AF-3FDF-7F44-1617-9234893E2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6E48C67C-77FA-1A22-BD90-09CAF430FB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4"/>
            <a:ext cx="12280489" cy="1649977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0CE3D16-BF70-0B8E-10EA-2FE1FBABFBAC}"/>
              </a:ext>
            </a:extLst>
          </p:cNvPr>
          <p:cNvSpPr txBox="1"/>
          <p:nvPr/>
        </p:nvSpPr>
        <p:spPr>
          <a:xfrm>
            <a:off x="1612490" y="403498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Top Salespersons by Revenue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36BCB4-6928-0917-DC68-0AE7DC35BA3E}"/>
              </a:ext>
            </a:extLst>
          </p:cNvPr>
          <p:cNvSpPr txBox="1"/>
          <p:nvPr/>
        </p:nvSpPr>
        <p:spPr>
          <a:xfrm>
            <a:off x="284809" y="4897595"/>
            <a:ext cx="56498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Recommendation:-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&amp; replicate Andria’s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training &amp; mentoring for low performers.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A8259-5765-FCF2-61F1-FC7DC005C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29" y="1917290"/>
            <a:ext cx="5934672" cy="412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39944-2827-83A3-B2F3-F9703D24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75CB2CD-B825-058A-873D-0F0021C34E5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4808" y="1866643"/>
            <a:ext cx="5649865" cy="11548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Choco is the top-selling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Dark Bites has the lowest revenue among the top five.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revenue gap between the top three products (Orange Choco, Baker's Choco Chips, and Choco Coated Almonds) is very narrow.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4B45284-2FB3-52B1-7A1F-DD66CAC4B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C9DAB711-0587-94DA-152E-604376B0DF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4"/>
            <a:ext cx="12280489" cy="1649977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B852794-7B67-B667-7CEF-41B87C712394}"/>
              </a:ext>
            </a:extLst>
          </p:cNvPr>
          <p:cNvSpPr txBox="1"/>
          <p:nvPr/>
        </p:nvSpPr>
        <p:spPr>
          <a:xfrm>
            <a:off x="1612490" y="403498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Top Products by Revenue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69670-66B0-31E1-F56B-947F19B33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28" y="1917290"/>
            <a:ext cx="5934672" cy="4120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B0965E-64F1-9FBE-736C-575F651B02A8}"/>
              </a:ext>
            </a:extLst>
          </p:cNvPr>
          <p:cNvSpPr txBox="1"/>
          <p:nvPr/>
        </p:nvSpPr>
        <p:spPr>
          <a:xfrm>
            <a:off x="284809" y="4125760"/>
            <a:ext cx="61402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-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what makes Orange Choco and Baker’s Chips successful to repeat that with other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why 70% Dark Bites is weaker (low demand, pricing or supply issues).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top 3 are close, even a small promotion can change rankings.</a:t>
            </a:r>
          </a:p>
        </p:txBody>
      </p:sp>
    </p:spTree>
    <p:extLst>
      <p:ext uri="{BB962C8B-B14F-4D97-AF65-F5344CB8AC3E}">
        <p14:creationId xmlns:p14="http://schemas.microsoft.com/office/powerpoint/2010/main" val="176192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B063-DDEE-7AB0-D3CB-987488299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161324-4EC8-E760-7868-AC0AC8915D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80744" y="1298823"/>
            <a:ext cx="5649865" cy="11548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Dark Bites dominates in Australia.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Mint Chip Choco strong in New Zealand.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Eclairs &amp; Peanut Butter Cubes perform well in India.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F3B4E5E-2D8A-5056-2F4C-49A05C1A9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1B1492F9-D794-147F-8AD4-87D91CF918D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3"/>
            <a:ext cx="12280489" cy="1154882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E875A13-499A-4C5C-BD35-8126F2823EB0}"/>
              </a:ext>
            </a:extLst>
          </p:cNvPr>
          <p:cNvSpPr txBox="1"/>
          <p:nvPr/>
        </p:nvSpPr>
        <p:spPr>
          <a:xfrm>
            <a:off x="1612490" y="143941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Product Performance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FDC580-DE86-E762-90EC-7FD093D7DA6D}"/>
              </a:ext>
            </a:extLst>
          </p:cNvPr>
          <p:cNvSpPr txBox="1"/>
          <p:nvPr/>
        </p:nvSpPr>
        <p:spPr>
          <a:xfrm>
            <a:off x="6361391" y="1198060"/>
            <a:ext cx="56498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countries prefer different chocolates → adopt localized marketing strategy.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inventory planning based on country-specific bestsellers.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D5DB1C-75D0-6AEF-8032-152CEF63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825" y="3193085"/>
            <a:ext cx="8451133" cy="366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0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E596-9E58-65D8-1AF2-09012075D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64424CA-8A72-736E-00BC-FA955430E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556C6717-36A0-4D76-243F-7DCB349AC0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4"/>
            <a:ext cx="12280489" cy="1649977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B56133B-C3AD-C6CC-F1BB-9C6AB1AE58BB}"/>
              </a:ext>
            </a:extLst>
          </p:cNvPr>
          <p:cNvSpPr txBox="1"/>
          <p:nvPr/>
        </p:nvSpPr>
        <p:spPr>
          <a:xfrm>
            <a:off x="1612490" y="403498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Summary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475BF10-FEAC-A4C7-596F-797434674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81828"/>
              </p:ext>
            </p:extLst>
          </p:nvPr>
        </p:nvGraphicFramePr>
        <p:xfrm>
          <a:off x="0" y="1551651"/>
          <a:ext cx="12192000" cy="53063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940796298"/>
                    </a:ext>
                  </a:extLst>
                </a:gridCol>
              </a:tblGrid>
              <a:tr h="1061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drop in April – need campaigns in weak months.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230278"/>
                  </a:ext>
                </a:extLst>
              </a:tr>
              <a:tr h="1061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 is the largest and most profitable market.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35"/>
                  </a:ext>
                </a:extLst>
              </a:tr>
              <a:tr h="1061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preferences change by country.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076755"/>
                  </a:ext>
                </a:extLst>
              </a:tr>
              <a:tr h="1061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Salesforce performance is uneven due to scope for training.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481272"/>
                  </a:ext>
                </a:extLst>
              </a:tr>
              <a:tr h="1061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products are close in revenue, showing strong competition.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19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261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1DFE-E68F-B944-6574-12BC6FAC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EB488A0-DD2E-CA2B-311A-989706A0C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2" name="Picture Placeholder 15" descr="A blurry picture of a brown object ">
            <a:extLst>
              <a:ext uri="{FF2B5EF4-FFF2-40B4-BE49-F238E27FC236}">
                <a16:creationId xmlns:a16="http://schemas.microsoft.com/office/drawing/2014/main" id="{934F8DF0-7C0C-82EC-EDD5-CF800FACAF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8324"/>
            <a:ext cx="12280489" cy="1649977"/>
          </a:xfr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A9BABDE-61D3-8748-5DAC-57B638184EE3}"/>
              </a:ext>
            </a:extLst>
          </p:cNvPr>
          <p:cNvSpPr txBox="1"/>
          <p:nvPr/>
        </p:nvSpPr>
        <p:spPr>
          <a:xfrm>
            <a:off x="1612490" y="403498"/>
            <a:ext cx="843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Solutions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5DD2506-B3CE-859D-F84B-C6A59F34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43776" y="2225546"/>
            <a:ext cx="2367224" cy="2367218"/>
          </a:xfrm>
          <a:prstGeom prst="ellipse">
            <a:avLst/>
          </a:prstGeom>
          <a:solidFill>
            <a:srgbClr val="66718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9A734E-0320-0FA3-60E8-72CA29632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40290"/>
            <a:ext cx="11025188" cy="50668"/>
          </a:xfrm>
          <a:prstGeom prst="rect">
            <a:avLst/>
          </a:prstGeom>
          <a:solidFill>
            <a:srgbClr val="303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F1981D-92CC-4D7B-23C1-1C039CF17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9561" y="2611330"/>
            <a:ext cx="1595654" cy="1595650"/>
          </a:xfrm>
          <a:prstGeom prst="ellipse">
            <a:avLst/>
          </a:prstGeom>
          <a:solidFill>
            <a:srgbClr val="30353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 descr="This is an icon of a trophy.">
            <a:extLst>
              <a:ext uri="{FF2B5EF4-FFF2-40B4-BE49-F238E27FC236}">
                <a16:creationId xmlns:a16="http://schemas.microsoft.com/office/drawing/2014/main" id="{1AE8FAF9-56A9-0041-7040-801920FE6FDD}"/>
              </a:ext>
            </a:extLst>
          </p:cNvPr>
          <p:cNvGrpSpPr/>
          <p:nvPr/>
        </p:nvGrpSpPr>
        <p:grpSpPr>
          <a:xfrm>
            <a:off x="10299341" y="3028467"/>
            <a:ext cx="656095" cy="761376"/>
            <a:chOff x="-1892703" y="1944681"/>
            <a:chExt cx="3284538" cy="381158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A3CBED6-F0B6-0EF9-123A-94FA69B278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892703" y="1944681"/>
              <a:ext cx="3284538" cy="3811588"/>
            </a:xfrm>
            <a:custGeom>
              <a:avLst/>
              <a:gdLst>
                <a:gd name="T0" fmla="*/ 1611 w 1764"/>
                <a:gd name="T1" fmla="*/ 145 h 2048"/>
                <a:gd name="T2" fmla="*/ 1468 w 1764"/>
                <a:gd name="T3" fmla="*/ 100 h 2048"/>
                <a:gd name="T4" fmla="*/ 397 w 1764"/>
                <a:gd name="T5" fmla="*/ 0 h 2048"/>
                <a:gd name="T6" fmla="*/ 296 w 1764"/>
                <a:gd name="T7" fmla="*/ 145 h 2048"/>
                <a:gd name="T8" fmla="*/ 40 w 1764"/>
                <a:gd name="T9" fmla="*/ 197 h 2048"/>
                <a:gd name="T10" fmla="*/ 397 w 1764"/>
                <a:gd name="T11" fmla="*/ 863 h 2048"/>
                <a:gd name="T12" fmla="*/ 735 w 1764"/>
                <a:gd name="T13" fmla="*/ 1251 h 2048"/>
                <a:gd name="T14" fmla="*/ 567 w 1764"/>
                <a:gd name="T15" fmla="*/ 1483 h 2048"/>
                <a:gd name="T16" fmla="*/ 531 w 1764"/>
                <a:gd name="T17" fmla="*/ 1746 h 2048"/>
                <a:gd name="T18" fmla="*/ 301 w 1764"/>
                <a:gd name="T19" fmla="*/ 1888 h 2048"/>
                <a:gd name="T20" fmla="*/ 348 w 1764"/>
                <a:gd name="T21" fmla="*/ 2048 h 2048"/>
                <a:gd name="T22" fmla="*/ 1468 w 1764"/>
                <a:gd name="T23" fmla="*/ 2001 h 2048"/>
                <a:gd name="T24" fmla="*/ 1325 w 1764"/>
                <a:gd name="T25" fmla="*/ 1746 h 2048"/>
                <a:gd name="T26" fmla="*/ 1237 w 1764"/>
                <a:gd name="T27" fmla="*/ 1529 h 2048"/>
                <a:gd name="T28" fmla="*/ 1200 w 1764"/>
                <a:gd name="T29" fmla="*/ 1482 h 2048"/>
                <a:gd name="T30" fmla="*/ 1303 w 1764"/>
                <a:gd name="T31" fmla="*/ 992 h 2048"/>
                <a:gd name="T32" fmla="*/ 1757 w 1764"/>
                <a:gd name="T33" fmla="*/ 316 h 2048"/>
                <a:gd name="T34" fmla="*/ 101 w 1764"/>
                <a:gd name="T35" fmla="*/ 301 h 2048"/>
                <a:gd name="T36" fmla="*/ 153 w 1764"/>
                <a:gd name="T37" fmla="*/ 240 h 2048"/>
                <a:gd name="T38" fmla="*/ 296 w 1764"/>
                <a:gd name="T39" fmla="*/ 327 h 2048"/>
                <a:gd name="T40" fmla="*/ 101 w 1764"/>
                <a:gd name="T41" fmla="*/ 301 h 2048"/>
                <a:gd name="T42" fmla="*/ 1373 w 1764"/>
                <a:gd name="T43" fmla="*/ 1888 h 2048"/>
                <a:gd name="T44" fmla="*/ 396 w 1764"/>
                <a:gd name="T45" fmla="*/ 1953 h 2048"/>
                <a:gd name="T46" fmla="*/ 443 w 1764"/>
                <a:gd name="T47" fmla="*/ 1841 h 2048"/>
                <a:gd name="T48" fmla="*/ 1143 w 1764"/>
                <a:gd name="T49" fmla="*/ 1576 h 2048"/>
                <a:gd name="T50" fmla="*/ 626 w 1764"/>
                <a:gd name="T51" fmla="*/ 1746 h 2048"/>
                <a:gd name="T52" fmla="*/ 1143 w 1764"/>
                <a:gd name="T53" fmla="*/ 1576 h 2048"/>
                <a:gd name="T54" fmla="*/ 782 w 1764"/>
                <a:gd name="T55" fmla="*/ 1439 h 2048"/>
                <a:gd name="T56" fmla="*/ 882 w 1764"/>
                <a:gd name="T57" fmla="*/ 1280 h 2048"/>
                <a:gd name="T58" fmla="*/ 1019 w 1764"/>
                <a:gd name="T59" fmla="*/ 1481 h 2048"/>
                <a:gd name="T60" fmla="*/ 1373 w 1764"/>
                <a:gd name="T61" fmla="*/ 327 h 2048"/>
                <a:gd name="T62" fmla="*/ 882 w 1764"/>
                <a:gd name="T63" fmla="*/ 1186 h 2048"/>
                <a:gd name="T64" fmla="*/ 391 w 1764"/>
                <a:gd name="T65" fmla="*/ 327 h 2048"/>
                <a:gd name="T66" fmla="*/ 397 w 1764"/>
                <a:gd name="T67" fmla="*/ 95 h 2048"/>
                <a:gd name="T68" fmla="*/ 1373 w 1764"/>
                <a:gd name="T69" fmla="*/ 100 h 2048"/>
                <a:gd name="T70" fmla="*/ 1663 w 1764"/>
                <a:gd name="T71" fmla="*/ 301 h 2048"/>
                <a:gd name="T72" fmla="*/ 1468 w 1764"/>
                <a:gd name="T73" fmla="*/ 327 h 2048"/>
                <a:gd name="T74" fmla="*/ 1611 w 1764"/>
                <a:gd name="T75" fmla="*/ 240 h 2048"/>
                <a:gd name="T76" fmla="*/ 1663 w 1764"/>
                <a:gd name="T77" fmla="*/ 301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4" h="2048">
                  <a:moveTo>
                    <a:pt x="1724" y="197"/>
                  </a:moveTo>
                  <a:cubicBezTo>
                    <a:pt x="1696" y="164"/>
                    <a:pt x="1654" y="145"/>
                    <a:pt x="1611" y="145"/>
                  </a:cubicBezTo>
                  <a:cubicBezTo>
                    <a:pt x="1468" y="145"/>
                    <a:pt x="1468" y="145"/>
                    <a:pt x="1468" y="145"/>
                  </a:cubicBezTo>
                  <a:cubicBezTo>
                    <a:pt x="1468" y="100"/>
                    <a:pt x="1468" y="100"/>
                    <a:pt x="1468" y="100"/>
                  </a:cubicBezTo>
                  <a:cubicBezTo>
                    <a:pt x="1468" y="45"/>
                    <a:pt x="1423" y="0"/>
                    <a:pt x="136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341" y="0"/>
                    <a:pt x="296" y="45"/>
                    <a:pt x="296" y="100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10" y="145"/>
                    <a:pt x="68" y="164"/>
                    <a:pt x="40" y="197"/>
                  </a:cubicBezTo>
                  <a:cubicBezTo>
                    <a:pt x="12" y="230"/>
                    <a:pt x="0" y="274"/>
                    <a:pt x="7" y="316"/>
                  </a:cubicBezTo>
                  <a:cubicBezTo>
                    <a:pt x="45" y="547"/>
                    <a:pt x="190" y="751"/>
                    <a:pt x="397" y="863"/>
                  </a:cubicBezTo>
                  <a:cubicBezTo>
                    <a:pt x="416" y="909"/>
                    <a:pt x="437" y="952"/>
                    <a:pt x="461" y="992"/>
                  </a:cubicBezTo>
                  <a:cubicBezTo>
                    <a:pt x="537" y="1120"/>
                    <a:pt x="631" y="1208"/>
                    <a:pt x="735" y="1251"/>
                  </a:cubicBezTo>
                  <a:cubicBezTo>
                    <a:pt x="746" y="1357"/>
                    <a:pt x="675" y="1458"/>
                    <a:pt x="568" y="1482"/>
                  </a:cubicBezTo>
                  <a:cubicBezTo>
                    <a:pt x="568" y="1483"/>
                    <a:pt x="568" y="1483"/>
                    <a:pt x="567" y="1483"/>
                  </a:cubicBezTo>
                  <a:cubicBezTo>
                    <a:pt x="547" y="1488"/>
                    <a:pt x="531" y="1506"/>
                    <a:pt x="531" y="1529"/>
                  </a:cubicBezTo>
                  <a:cubicBezTo>
                    <a:pt x="531" y="1746"/>
                    <a:pt x="531" y="1746"/>
                    <a:pt x="531" y="1746"/>
                  </a:cubicBezTo>
                  <a:cubicBezTo>
                    <a:pt x="443" y="1746"/>
                    <a:pt x="443" y="1746"/>
                    <a:pt x="443" y="1746"/>
                  </a:cubicBezTo>
                  <a:cubicBezTo>
                    <a:pt x="365" y="1746"/>
                    <a:pt x="301" y="1810"/>
                    <a:pt x="301" y="1888"/>
                  </a:cubicBezTo>
                  <a:cubicBezTo>
                    <a:pt x="301" y="2001"/>
                    <a:pt x="301" y="2001"/>
                    <a:pt x="301" y="2001"/>
                  </a:cubicBezTo>
                  <a:cubicBezTo>
                    <a:pt x="301" y="2027"/>
                    <a:pt x="322" y="2048"/>
                    <a:pt x="348" y="2048"/>
                  </a:cubicBezTo>
                  <a:cubicBezTo>
                    <a:pt x="1420" y="2048"/>
                    <a:pt x="1420" y="2048"/>
                    <a:pt x="1420" y="2048"/>
                  </a:cubicBezTo>
                  <a:cubicBezTo>
                    <a:pt x="1446" y="2048"/>
                    <a:pt x="1468" y="2027"/>
                    <a:pt x="1468" y="2001"/>
                  </a:cubicBezTo>
                  <a:cubicBezTo>
                    <a:pt x="1468" y="1888"/>
                    <a:pt x="1468" y="1888"/>
                    <a:pt x="1468" y="1888"/>
                  </a:cubicBezTo>
                  <a:cubicBezTo>
                    <a:pt x="1468" y="1810"/>
                    <a:pt x="1404" y="1746"/>
                    <a:pt x="1325" y="1746"/>
                  </a:cubicBezTo>
                  <a:cubicBezTo>
                    <a:pt x="1237" y="1746"/>
                    <a:pt x="1237" y="1746"/>
                    <a:pt x="1237" y="1746"/>
                  </a:cubicBezTo>
                  <a:cubicBezTo>
                    <a:pt x="1237" y="1529"/>
                    <a:pt x="1237" y="1529"/>
                    <a:pt x="1237" y="1529"/>
                  </a:cubicBezTo>
                  <a:cubicBezTo>
                    <a:pt x="1237" y="1506"/>
                    <a:pt x="1222" y="1488"/>
                    <a:pt x="1201" y="1483"/>
                  </a:cubicBezTo>
                  <a:cubicBezTo>
                    <a:pt x="1201" y="1483"/>
                    <a:pt x="1201" y="1483"/>
                    <a:pt x="1200" y="1482"/>
                  </a:cubicBezTo>
                  <a:cubicBezTo>
                    <a:pt x="1093" y="1458"/>
                    <a:pt x="1022" y="1356"/>
                    <a:pt x="1033" y="1249"/>
                  </a:cubicBezTo>
                  <a:cubicBezTo>
                    <a:pt x="1136" y="1205"/>
                    <a:pt x="1228" y="1118"/>
                    <a:pt x="1303" y="992"/>
                  </a:cubicBezTo>
                  <a:cubicBezTo>
                    <a:pt x="1327" y="952"/>
                    <a:pt x="1349" y="909"/>
                    <a:pt x="1367" y="863"/>
                  </a:cubicBezTo>
                  <a:cubicBezTo>
                    <a:pt x="1574" y="751"/>
                    <a:pt x="1719" y="547"/>
                    <a:pt x="1757" y="316"/>
                  </a:cubicBezTo>
                  <a:cubicBezTo>
                    <a:pt x="1764" y="274"/>
                    <a:pt x="1752" y="230"/>
                    <a:pt x="1724" y="197"/>
                  </a:cubicBezTo>
                  <a:close/>
                  <a:moveTo>
                    <a:pt x="101" y="301"/>
                  </a:moveTo>
                  <a:cubicBezTo>
                    <a:pt x="98" y="286"/>
                    <a:pt x="102" y="271"/>
                    <a:pt x="112" y="259"/>
                  </a:cubicBezTo>
                  <a:cubicBezTo>
                    <a:pt x="123" y="247"/>
                    <a:pt x="138" y="240"/>
                    <a:pt x="153" y="240"/>
                  </a:cubicBezTo>
                  <a:cubicBezTo>
                    <a:pt x="296" y="240"/>
                    <a:pt x="296" y="240"/>
                    <a:pt x="296" y="240"/>
                  </a:cubicBezTo>
                  <a:cubicBezTo>
                    <a:pt x="296" y="327"/>
                    <a:pt x="296" y="327"/>
                    <a:pt x="296" y="327"/>
                  </a:cubicBezTo>
                  <a:cubicBezTo>
                    <a:pt x="296" y="464"/>
                    <a:pt x="314" y="596"/>
                    <a:pt x="347" y="718"/>
                  </a:cubicBezTo>
                  <a:cubicBezTo>
                    <a:pt x="217" y="615"/>
                    <a:pt x="127" y="466"/>
                    <a:pt x="101" y="301"/>
                  </a:cubicBezTo>
                  <a:close/>
                  <a:moveTo>
                    <a:pt x="1325" y="1841"/>
                  </a:moveTo>
                  <a:cubicBezTo>
                    <a:pt x="1352" y="1841"/>
                    <a:pt x="1373" y="1862"/>
                    <a:pt x="1373" y="1888"/>
                  </a:cubicBezTo>
                  <a:cubicBezTo>
                    <a:pt x="1373" y="1953"/>
                    <a:pt x="1373" y="1953"/>
                    <a:pt x="1373" y="1953"/>
                  </a:cubicBezTo>
                  <a:cubicBezTo>
                    <a:pt x="396" y="1953"/>
                    <a:pt x="396" y="1953"/>
                    <a:pt x="396" y="1953"/>
                  </a:cubicBezTo>
                  <a:cubicBezTo>
                    <a:pt x="396" y="1888"/>
                    <a:pt x="396" y="1888"/>
                    <a:pt x="396" y="1888"/>
                  </a:cubicBezTo>
                  <a:cubicBezTo>
                    <a:pt x="396" y="1862"/>
                    <a:pt x="417" y="1841"/>
                    <a:pt x="443" y="1841"/>
                  </a:cubicBezTo>
                  <a:lnTo>
                    <a:pt x="1325" y="1841"/>
                  </a:lnTo>
                  <a:close/>
                  <a:moveTo>
                    <a:pt x="1143" y="1576"/>
                  </a:moveTo>
                  <a:cubicBezTo>
                    <a:pt x="1143" y="1746"/>
                    <a:pt x="1143" y="1746"/>
                    <a:pt x="1143" y="1746"/>
                  </a:cubicBezTo>
                  <a:cubicBezTo>
                    <a:pt x="626" y="1746"/>
                    <a:pt x="626" y="1746"/>
                    <a:pt x="626" y="1746"/>
                  </a:cubicBezTo>
                  <a:cubicBezTo>
                    <a:pt x="626" y="1576"/>
                    <a:pt x="626" y="1576"/>
                    <a:pt x="626" y="1576"/>
                  </a:cubicBezTo>
                  <a:lnTo>
                    <a:pt x="1143" y="1576"/>
                  </a:lnTo>
                  <a:close/>
                  <a:moveTo>
                    <a:pt x="750" y="1481"/>
                  </a:moveTo>
                  <a:cubicBezTo>
                    <a:pt x="762" y="1468"/>
                    <a:pt x="773" y="1454"/>
                    <a:pt x="782" y="1439"/>
                  </a:cubicBezTo>
                  <a:cubicBezTo>
                    <a:pt x="814" y="1390"/>
                    <a:pt x="830" y="1334"/>
                    <a:pt x="831" y="1277"/>
                  </a:cubicBezTo>
                  <a:cubicBezTo>
                    <a:pt x="848" y="1279"/>
                    <a:pt x="865" y="1280"/>
                    <a:pt x="882" y="1280"/>
                  </a:cubicBezTo>
                  <a:cubicBezTo>
                    <a:pt x="901" y="1280"/>
                    <a:pt x="919" y="1279"/>
                    <a:pt x="937" y="1276"/>
                  </a:cubicBezTo>
                  <a:cubicBezTo>
                    <a:pt x="939" y="1353"/>
                    <a:pt x="968" y="1426"/>
                    <a:pt x="1019" y="1481"/>
                  </a:cubicBezTo>
                  <a:cubicBezTo>
                    <a:pt x="750" y="1481"/>
                    <a:pt x="750" y="1481"/>
                    <a:pt x="750" y="1481"/>
                  </a:cubicBezTo>
                  <a:close/>
                  <a:moveTo>
                    <a:pt x="1373" y="327"/>
                  </a:moveTo>
                  <a:cubicBezTo>
                    <a:pt x="1373" y="561"/>
                    <a:pt x="1319" y="780"/>
                    <a:pt x="1222" y="943"/>
                  </a:cubicBezTo>
                  <a:cubicBezTo>
                    <a:pt x="1129" y="1100"/>
                    <a:pt x="1008" y="1186"/>
                    <a:pt x="882" y="1186"/>
                  </a:cubicBezTo>
                  <a:cubicBezTo>
                    <a:pt x="756" y="1186"/>
                    <a:pt x="635" y="1100"/>
                    <a:pt x="542" y="943"/>
                  </a:cubicBezTo>
                  <a:cubicBezTo>
                    <a:pt x="445" y="780"/>
                    <a:pt x="391" y="561"/>
                    <a:pt x="391" y="327"/>
                  </a:cubicBezTo>
                  <a:cubicBezTo>
                    <a:pt x="391" y="100"/>
                    <a:pt x="391" y="100"/>
                    <a:pt x="391" y="100"/>
                  </a:cubicBezTo>
                  <a:cubicBezTo>
                    <a:pt x="391" y="97"/>
                    <a:pt x="394" y="95"/>
                    <a:pt x="397" y="95"/>
                  </a:cubicBezTo>
                  <a:cubicBezTo>
                    <a:pt x="1367" y="95"/>
                    <a:pt x="1367" y="95"/>
                    <a:pt x="1367" y="95"/>
                  </a:cubicBezTo>
                  <a:cubicBezTo>
                    <a:pt x="1370" y="95"/>
                    <a:pt x="1373" y="97"/>
                    <a:pt x="1373" y="100"/>
                  </a:cubicBezTo>
                  <a:lnTo>
                    <a:pt x="1373" y="327"/>
                  </a:lnTo>
                  <a:close/>
                  <a:moveTo>
                    <a:pt x="1663" y="301"/>
                  </a:moveTo>
                  <a:cubicBezTo>
                    <a:pt x="1637" y="466"/>
                    <a:pt x="1547" y="615"/>
                    <a:pt x="1417" y="718"/>
                  </a:cubicBezTo>
                  <a:cubicBezTo>
                    <a:pt x="1450" y="596"/>
                    <a:pt x="1468" y="464"/>
                    <a:pt x="1468" y="327"/>
                  </a:cubicBezTo>
                  <a:cubicBezTo>
                    <a:pt x="1468" y="240"/>
                    <a:pt x="1468" y="240"/>
                    <a:pt x="1468" y="240"/>
                  </a:cubicBezTo>
                  <a:cubicBezTo>
                    <a:pt x="1611" y="240"/>
                    <a:pt x="1611" y="240"/>
                    <a:pt x="1611" y="240"/>
                  </a:cubicBezTo>
                  <a:cubicBezTo>
                    <a:pt x="1626" y="240"/>
                    <a:pt x="1641" y="247"/>
                    <a:pt x="1652" y="259"/>
                  </a:cubicBezTo>
                  <a:cubicBezTo>
                    <a:pt x="1662" y="271"/>
                    <a:pt x="1666" y="286"/>
                    <a:pt x="1663" y="3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8E795EF-8232-92F5-F897-2346F0D28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95744" y="2462202"/>
              <a:ext cx="1090612" cy="1039809"/>
            </a:xfrm>
            <a:custGeom>
              <a:avLst/>
              <a:gdLst>
                <a:gd name="T0" fmla="*/ 581 w 586"/>
                <a:gd name="T1" fmla="*/ 209 h 559"/>
                <a:gd name="T2" fmla="*/ 543 w 586"/>
                <a:gd name="T3" fmla="*/ 176 h 559"/>
                <a:gd name="T4" fmla="*/ 399 w 586"/>
                <a:gd name="T5" fmla="*/ 156 h 559"/>
                <a:gd name="T6" fmla="*/ 336 w 586"/>
                <a:gd name="T7" fmla="*/ 26 h 559"/>
                <a:gd name="T8" fmla="*/ 293 w 586"/>
                <a:gd name="T9" fmla="*/ 0 h 559"/>
                <a:gd name="T10" fmla="*/ 250 w 586"/>
                <a:gd name="T11" fmla="*/ 26 h 559"/>
                <a:gd name="T12" fmla="*/ 187 w 586"/>
                <a:gd name="T13" fmla="*/ 156 h 559"/>
                <a:gd name="T14" fmla="*/ 44 w 586"/>
                <a:gd name="T15" fmla="*/ 176 h 559"/>
                <a:gd name="T16" fmla="*/ 5 w 586"/>
                <a:gd name="T17" fmla="*/ 209 h 559"/>
                <a:gd name="T18" fmla="*/ 17 w 586"/>
                <a:gd name="T19" fmla="*/ 257 h 559"/>
                <a:gd name="T20" fmla="*/ 121 w 586"/>
                <a:gd name="T21" fmla="*/ 358 h 559"/>
                <a:gd name="T22" fmla="*/ 96 w 586"/>
                <a:gd name="T23" fmla="*/ 501 h 559"/>
                <a:gd name="T24" fmla="*/ 115 w 586"/>
                <a:gd name="T25" fmla="*/ 547 h 559"/>
                <a:gd name="T26" fmla="*/ 165 w 586"/>
                <a:gd name="T27" fmla="*/ 551 h 559"/>
                <a:gd name="T28" fmla="*/ 293 w 586"/>
                <a:gd name="T29" fmla="*/ 483 h 559"/>
                <a:gd name="T30" fmla="*/ 421 w 586"/>
                <a:gd name="T31" fmla="*/ 551 h 559"/>
                <a:gd name="T32" fmla="*/ 443 w 586"/>
                <a:gd name="T33" fmla="*/ 556 h 559"/>
                <a:gd name="T34" fmla="*/ 471 w 586"/>
                <a:gd name="T35" fmla="*/ 547 h 559"/>
                <a:gd name="T36" fmla="*/ 490 w 586"/>
                <a:gd name="T37" fmla="*/ 501 h 559"/>
                <a:gd name="T38" fmla="*/ 465 w 586"/>
                <a:gd name="T39" fmla="*/ 358 h 559"/>
                <a:gd name="T40" fmla="*/ 569 w 586"/>
                <a:gd name="T41" fmla="*/ 257 h 559"/>
                <a:gd name="T42" fmla="*/ 581 w 586"/>
                <a:gd name="T43" fmla="*/ 209 h 559"/>
                <a:gd name="T44" fmla="*/ 381 w 586"/>
                <a:gd name="T45" fmla="*/ 308 h 559"/>
                <a:gd name="T46" fmla="*/ 368 w 586"/>
                <a:gd name="T47" fmla="*/ 350 h 559"/>
                <a:gd name="T48" fmla="*/ 380 w 586"/>
                <a:gd name="T49" fmla="*/ 422 h 559"/>
                <a:gd name="T50" fmla="*/ 315 w 586"/>
                <a:gd name="T51" fmla="*/ 388 h 559"/>
                <a:gd name="T52" fmla="*/ 293 w 586"/>
                <a:gd name="T53" fmla="*/ 382 h 559"/>
                <a:gd name="T54" fmla="*/ 271 w 586"/>
                <a:gd name="T55" fmla="*/ 388 h 559"/>
                <a:gd name="T56" fmla="*/ 206 w 586"/>
                <a:gd name="T57" fmla="*/ 422 h 559"/>
                <a:gd name="T58" fmla="*/ 218 w 586"/>
                <a:gd name="T59" fmla="*/ 350 h 559"/>
                <a:gd name="T60" fmla="*/ 205 w 586"/>
                <a:gd name="T61" fmla="*/ 308 h 559"/>
                <a:gd name="T62" fmla="*/ 152 w 586"/>
                <a:gd name="T63" fmla="*/ 256 h 559"/>
                <a:gd name="T64" fmla="*/ 225 w 586"/>
                <a:gd name="T65" fmla="*/ 246 h 559"/>
                <a:gd name="T66" fmla="*/ 261 w 586"/>
                <a:gd name="T67" fmla="*/ 220 h 559"/>
                <a:gd name="T68" fmla="*/ 293 w 586"/>
                <a:gd name="T69" fmla="*/ 154 h 559"/>
                <a:gd name="T70" fmla="*/ 325 w 586"/>
                <a:gd name="T71" fmla="*/ 220 h 559"/>
                <a:gd name="T72" fmla="*/ 361 w 586"/>
                <a:gd name="T73" fmla="*/ 246 h 559"/>
                <a:gd name="T74" fmla="*/ 434 w 586"/>
                <a:gd name="T75" fmla="*/ 256 h 559"/>
                <a:gd name="T76" fmla="*/ 381 w 586"/>
                <a:gd name="T77" fmla="*/ 308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6" h="559">
                  <a:moveTo>
                    <a:pt x="581" y="209"/>
                  </a:moveTo>
                  <a:cubicBezTo>
                    <a:pt x="575" y="191"/>
                    <a:pt x="560" y="179"/>
                    <a:pt x="543" y="176"/>
                  </a:cubicBezTo>
                  <a:cubicBezTo>
                    <a:pt x="399" y="156"/>
                    <a:pt x="399" y="156"/>
                    <a:pt x="399" y="156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28" y="10"/>
                    <a:pt x="311" y="0"/>
                    <a:pt x="293" y="0"/>
                  </a:cubicBezTo>
                  <a:cubicBezTo>
                    <a:pt x="275" y="0"/>
                    <a:pt x="258" y="10"/>
                    <a:pt x="250" y="26"/>
                  </a:cubicBezTo>
                  <a:cubicBezTo>
                    <a:pt x="187" y="156"/>
                    <a:pt x="187" y="156"/>
                    <a:pt x="187" y="156"/>
                  </a:cubicBezTo>
                  <a:cubicBezTo>
                    <a:pt x="44" y="176"/>
                    <a:pt x="44" y="176"/>
                    <a:pt x="44" y="176"/>
                  </a:cubicBezTo>
                  <a:cubicBezTo>
                    <a:pt x="26" y="179"/>
                    <a:pt x="11" y="191"/>
                    <a:pt x="5" y="209"/>
                  </a:cubicBezTo>
                  <a:cubicBezTo>
                    <a:pt x="0" y="226"/>
                    <a:pt x="4" y="245"/>
                    <a:pt x="17" y="257"/>
                  </a:cubicBezTo>
                  <a:cubicBezTo>
                    <a:pt x="121" y="358"/>
                    <a:pt x="121" y="358"/>
                    <a:pt x="121" y="358"/>
                  </a:cubicBezTo>
                  <a:cubicBezTo>
                    <a:pt x="96" y="501"/>
                    <a:pt x="96" y="501"/>
                    <a:pt x="96" y="501"/>
                  </a:cubicBezTo>
                  <a:cubicBezTo>
                    <a:pt x="93" y="518"/>
                    <a:pt x="101" y="536"/>
                    <a:pt x="115" y="547"/>
                  </a:cubicBezTo>
                  <a:cubicBezTo>
                    <a:pt x="130" y="558"/>
                    <a:pt x="149" y="559"/>
                    <a:pt x="165" y="551"/>
                  </a:cubicBezTo>
                  <a:cubicBezTo>
                    <a:pt x="293" y="483"/>
                    <a:pt x="293" y="483"/>
                    <a:pt x="293" y="483"/>
                  </a:cubicBezTo>
                  <a:cubicBezTo>
                    <a:pt x="421" y="551"/>
                    <a:pt x="421" y="551"/>
                    <a:pt x="421" y="551"/>
                  </a:cubicBezTo>
                  <a:cubicBezTo>
                    <a:pt x="428" y="554"/>
                    <a:pt x="435" y="556"/>
                    <a:pt x="443" y="556"/>
                  </a:cubicBezTo>
                  <a:cubicBezTo>
                    <a:pt x="453" y="556"/>
                    <a:pt x="463" y="553"/>
                    <a:pt x="471" y="547"/>
                  </a:cubicBezTo>
                  <a:cubicBezTo>
                    <a:pt x="485" y="536"/>
                    <a:pt x="493" y="518"/>
                    <a:pt x="490" y="501"/>
                  </a:cubicBezTo>
                  <a:cubicBezTo>
                    <a:pt x="465" y="358"/>
                    <a:pt x="465" y="358"/>
                    <a:pt x="465" y="358"/>
                  </a:cubicBezTo>
                  <a:cubicBezTo>
                    <a:pt x="569" y="257"/>
                    <a:pt x="569" y="257"/>
                    <a:pt x="569" y="257"/>
                  </a:cubicBezTo>
                  <a:cubicBezTo>
                    <a:pt x="582" y="245"/>
                    <a:pt x="586" y="226"/>
                    <a:pt x="581" y="209"/>
                  </a:cubicBezTo>
                  <a:close/>
                  <a:moveTo>
                    <a:pt x="381" y="308"/>
                  </a:moveTo>
                  <a:cubicBezTo>
                    <a:pt x="370" y="319"/>
                    <a:pt x="365" y="334"/>
                    <a:pt x="368" y="350"/>
                  </a:cubicBezTo>
                  <a:cubicBezTo>
                    <a:pt x="380" y="422"/>
                    <a:pt x="380" y="422"/>
                    <a:pt x="380" y="422"/>
                  </a:cubicBezTo>
                  <a:cubicBezTo>
                    <a:pt x="315" y="388"/>
                    <a:pt x="315" y="388"/>
                    <a:pt x="315" y="388"/>
                  </a:cubicBezTo>
                  <a:cubicBezTo>
                    <a:pt x="308" y="384"/>
                    <a:pt x="301" y="382"/>
                    <a:pt x="293" y="382"/>
                  </a:cubicBezTo>
                  <a:cubicBezTo>
                    <a:pt x="285" y="382"/>
                    <a:pt x="278" y="384"/>
                    <a:pt x="271" y="388"/>
                  </a:cubicBezTo>
                  <a:cubicBezTo>
                    <a:pt x="206" y="422"/>
                    <a:pt x="206" y="422"/>
                    <a:pt x="206" y="422"/>
                  </a:cubicBezTo>
                  <a:cubicBezTo>
                    <a:pt x="218" y="350"/>
                    <a:pt x="218" y="350"/>
                    <a:pt x="218" y="350"/>
                  </a:cubicBezTo>
                  <a:cubicBezTo>
                    <a:pt x="221" y="334"/>
                    <a:pt x="216" y="319"/>
                    <a:pt x="205" y="308"/>
                  </a:cubicBezTo>
                  <a:cubicBezTo>
                    <a:pt x="152" y="256"/>
                    <a:pt x="152" y="256"/>
                    <a:pt x="152" y="256"/>
                  </a:cubicBezTo>
                  <a:cubicBezTo>
                    <a:pt x="225" y="246"/>
                    <a:pt x="225" y="246"/>
                    <a:pt x="225" y="246"/>
                  </a:cubicBezTo>
                  <a:cubicBezTo>
                    <a:pt x="240" y="244"/>
                    <a:pt x="254" y="234"/>
                    <a:pt x="261" y="220"/>
                  </a:cubicBezTo>
                  <a:cubicBezTo>
                    <a:pt x="293" y="154"/>
                    <a:pt x="293" y="154"/>
                    <a:pt x="293" y="154"/>
                  </a:cubicBezTo>
                  <a:cubicBezTo>
                    <a:pt x="325" y="220"/>
                    <a:pt x="325" y="220"/>
                    <a:pt x="325" y="220"/>
                  </a:cubicBezTo>
                  <a:cubicBezTo>
                    <a:pt x="332" y="234"/>
                    <a:pt x="346" y="244"/>
                    <a:pt x="361" y="246"/>
                  </a:cubicBezTo>
                  <a:cubicBezTo>
                    <a:pt x="434" y="256"/>
                    <a:pt x="434" y="256"/>
                    <a:pt x="434" y="256"/>
                  </a:cubicBezTo>
                  <a:lnTo>
                    <a:pt x="381" y="3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EFA9FC-48E5-30A5-CA42-63F871E13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29776" y="3596184"/>
            <a:ext cx="0" cy="705734"/>
          </a:xfrm>
          <a:prstGeom prst="line">
            <a:avLst/>
          </a:prstGeom>
          <a:ln w="19050">
            <a:solidFill>
              <a:srgbClr val="43CD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7F7D7E-11FC-7FE8-74F2-5BAF6C8D79B8}"/>
              </a:ext>
            </a:extLst>
          </p:cNvPr>
          <p:cNvSpPr txBox="1"/>
          <p:nvPr/>
        </p:nvSpPr>
        <p:spPr>
          <a:xfrm>
            <a:off x="6872409" y="4412356"/>
            <a:ext cx="23147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rgbClr val="43CDD9"/>
                </a:solidFill>
              </a:rPr>
              <a:t>Train weaker salespeople</a:t>
            </a:r>
          </a:p>
          <a:p>
            <a:pPr algn="ctr"/>
            <a:r>
              <a:rPr lang="en-US" sz="1400" b="1" dirty="0">
                <a:solidFill>
                  <a:srgbClr val="43CDD9"/>
                </a:solidFill>
              </a:rPr>
              <a:t> and reward high performers.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638FF8-813F-F801-488C-87A9CE5D6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4576" y="3174046"/>
            <a:ext cx="630400" cy="630398"/>
          </a:xfrm>
          <a:prstGeom prst="ellipse">
            <a:avLst/>
          </a:prstGeom>
          <a:solidFill>
            <a:srgbClr val="43CDD9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 descr="This is an icon of a calendar. ">
            <a:extLst>
              <a:ext uri="{FF2B5EF4-FFF2-40B4-BE49-F238E27FC236}">
                <a16:creationId xmlns:a16="http://schemas.microsoft.com/office/drawing/2014/main" id="{B9500108-EF03-6156-F28E-06862A159CDF}"/>
              </a:ext>
            </a:extLst>
          </p:cNvPr>
          <p:cNvGrpSpPr/>
          <p:nvPr/>
        </p:nvGrpSpPr>
        <p:grpSpPr>
          <a:xfrm>
            <a:off x="7899149" y="3358618"/>
            <a:ext cx="261254" cy="261255"/>
            <a:chOff x="8208963" y="3762375"/>
            <a:chExt cx="306387" cy="306388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96B8F03A-6684-EEA5-D470-40C6D91F3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4863" y="3943350"/>
              <a:ext cx="53975" cy="53975"/>
            </a:xfrm>
            <a:custGeom>
              <a:avLst/>
              <a:gdLst>
                <a:gd name="T0" fmla="*/ 300 w 360"/>
                <a:gd name="T1" fmla="*/ 240 h 360"/>
                <a:gd name="T2" fmla="*/ 120 w 360"/>
                <a:gd name="T3" fmla="*/ 240 h 360"/>
                <a:gd name="T4" fmla="*/ 120 w 360"/>
                <a:gd name="T5" fmla="*/ 60 h 360"/>
                <a:gd name="T6" fmla="*/ 60 w 360"/>
                <a:gd name="T7" fmla="*/ 0 h 360"/>
                <a:gd name="T8" fmla="*/ 0 w 360"/>
                <a:gd name="T9" fmla="*/ 60 h 360"/>
                <a:gd name="T10" fmla="*/ 0 w 360"/>
                <a:gd name="T11" fmla="*/ 300 h 360"/>
                <a:gd name="T12" fmla="*/ 60 w 360"/>
                <a:gd name="T13" fmla="*/ 360 h 360"/>
                <a:gd name="T14" fmla="*/ 300 w 360"/>
                <a:gd name="T15" fmla="*/ 360 h 360"/>
                <a:gd name="T16" fmla="*/ 360 w 360"/>
                <a:gd name="T17" fmla="*/ 300 h 360"/>
                <a:gd name="T18" fmla="*/ 300 w 360"/>
                <a:gd name="T19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0" h="360">
                  <a:moveTo>
                    <a:pt x="300" y="240"/>
                  </a:moveTo>
                  <a:cubicBezTo>
                    <a:pt x="120" y="240"/>
                    <a:pt x="120" y="240"/>
                    <a:pt x="120" y="240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0" y="333"/>
                    <a:pt x="27" y="360"/>
                    <a:pt x="60" y="360"/>
                  </a:cubicBezTo>
                  <a:cubicBezTo>
                    <a:pt x="300" y="360"/>
                    <a:pt x="300" y="360"/>
                    <a:pt x="300" y="360"/>
                  </a:cubicBezTo>
                  <a:cubicBezTo>
                    <a:pt x="333" y="360"/>
                    <a:pt x="360" y="333"/>
                    <a:pt x="360" y="300"/>
                  </a:cubicBezTo>
                  <a:cubicBezTo>
                    <a:pt x="360" y="267"/>
                    <a:pt x="333" y="240"/>
                    <a:pt x="300" y="2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4203A02C-0D10-EBEB-145B-CFB98886F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5475" y="3925888"/>
              <a:ext cx="53975" cy="17463"/>
            </a:xfrm>
            <a:custGeom>
              <a:avLst/>
              <a:gdLst>
                <a:gd name="T0" fmla="*/ 300 w 360"/>
                <a:gd name="T1" fmla="*/ 0 h 120"/>
                <a:gd name="T2" fmla="*/ 60 w 360"/>
                <a:gd name="T3" fmla="*/ 0 h 120"/>
                <a:gd name="T4" fmla="*/ 0 w 360"/>
                <a:gd name="T5" fmla="*/ 60 h 120"/>
                <a:gd name="T6" fmla="*/ 60 w 360"/>
                <a:gd name="T7" fmla="*/ 120 h 120"/>
                <a:gd name="T8" fmla="*/ 300 w 360"/>
                <a:gd name="T9" fmla="*/ 120 h 120"/>
                <a:gd name="T10" fmla="*/ 360 w 360"/>
                <a:gd name="T11" fmla="*/ 60 h 120"/>
                <a:gd name="T12" fmla="*/ 300 w 360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0" h="120">
                  <a:moveTo>
                    <a:pt x="300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33" y="120"/>
                    <a:pt x="360" y="93"/>
                    <a:pt x="360" y="60"/>
                  </a:cubicBezTo>
                  <a:cubicBezTo>
                    <a:pt x="360" y="27"/>
                    <a:pt x="333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05228F3A-23AD-E803-2C25-0E1872DCD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5475" y="3979863"/>
              <a:ext cx="53975" cy="17463"/>
            </a:xfrm>
            <a:custGeom>
              <a:avLst/>
              <a:gdLst>
                <a:gd name="T0" fmla="*/ 300 w 360"/>
                <a:gd name="T1" fmla="*/ 0 h 120"/>
                <a:gd name="T2" fmla="*/ 60 w 360"/>
                <a:gd name="T3" fmla="*/ 0 h 120"/>
                <a:gd name="T4" fmla="*/ 0 w 360"/>
                <a:gd name="T5" fmla="*/ 60 h 120"/>
                <a:gd name="T6" fmla="*/ 60 w 360"/>
                <a:gd name="T7" fmla="*/ 120 h 120"/>
                <a:gd name="T8" fmla="*/ 300 w 360"/>
                <a:gd name="T9" fmla="*/ 120 h 120"/>
                <a:gd name="T10" fmla="*/ 360 w 360"/>
                <a:gd name="T11" fmla="*/ 60 h 120"/>
                <a:gd name="T12" fmla="*/ 300 w 360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0" h="120">
                  <a:moveTo>
                    <a:pt x="300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33" y="120"/>
                    <a:pt x="360" y="93"/>
                    <a:pt x="360" y="60"/>
                  </a:cubicBezTo>
                  <a:cubicBezTo>
                    <a:pt x="360" y="27"/>
                    <a:pt x="333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D2F06D78-C872-B74A-E384-992522831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08963" y="3762375"/>
              <a:ext cx="306387" cy="306388"/>
            </a:xfrm>
            <a:custGeom>
              <a:avLst/>
              <a:gdLst>
                <a:gd name="T0" fmla="*/ 1808 w 2048"/>
                <a:gd name="T1" fmla="*/ 240 h 2048"/>
                <a:gd name="T2" fmla="*/ 1628 w 2048"/>
                <a:gd name="T3" fmla="*/ 0 h 2048"/>
                <a:gd name="T4" fmla="*/ 1448 w 2048"/>
                <a:gd name="T5" fmla="*/ 240 h 2048"/>
                <a:gd name="T6" fmla="*/ 1208 w 2048"/>
                <a:gd name="T7" fmla="*/ 180 h 2048"/>
                <a:gd name="T8" fmla="*/ 848 w 2048"/>
                <a:gd name="T9" fmla="*/ 180 h 2048"/>
                <a:gd name="T10" fmla="*/ 600 w 2048"/>
                <a:gd name="T11" fmla="*/ 240 h 2048"/>
                <a:gd name="T12" fmla="*/ 420 w 2048"/>
                <a:gd name="T13" fmla="*/ 0 h 2048"/>
                <a:gd name="T14" fmla="*/ 240 w 2048"/>
                <a:gd name="T15" fmla="*/ 240 h 2048"/>
                <a:gd name="T16" fmla="*/ 0 w 2048"/>
                <a:gd name="T17" fmla="*/ 420 h 2048"/>
                <a:gd name="T18" fmla="*/ 180 w 2048"/>
                <a:gd name="T19" fmla="*/ 1928 h 2048"/>
                <a:gd name="T20" fmla="*/ 1508 w 2048"/>
                <a:gd name="T21" fmla="*/ 2048 h 2048"/>
                <a:gd name="T22" fmla="*/ 2048 w 2048"/>
                <a:gd name="T23" fmla="*/ 420 h 2048"/>
                <a:gd name="T24" fmla="*/ 1568 w 2048"/>
                <a:gd name="T25" fmla="*/ 180 h 2048"/>
                <a:gd name="T26" fmla="*/ 1688 w 2048"/>
                <a:gd name="T27" fmla="*/ 180 h 2048"/>
                <a:gd name="T28" fmla="*/ 1628 w 2048"/>
                <a:gd name="T29" fmla="*/ 480 h 2048"/>
                <a:gd name="T30" fmla="*/ 1568 w 2048"/>
                <a:gd name="T31" fmla="*/ 180 h 2048"/>
                <a:gd name="T32" fmla="*/ 968 w 2048"/>
                <a:gd name="T33" fmla="*/ 300 h 2048"/>
                <a:gd name="T34" fmla="*/ 968 w 2048"/>
                <a:gd name="T35" fmla="*/ 180 h 2048"/>
                <a:gd name="T36" fmla="*/ 1088 w 2048"/>
                <a:gd name="T37" fmla="*/ 180 h 2048"/>
                <a:gd name="T38" fmla="*/ 1028 w 2048"/>
                <a:gd name="T39" fmla="*/ 480 h 2048"/>
                <a:gd name="T40" fmla="*/ 968 w 2048"/>
                <a:gd name="T41" fmla="*/ 300 h 2048"/>
                <a:gd name="T42" fmla="*/ 420 w 2048"/>
                <a:gd name="T43" fmla="*/ 120 h 2048"/>
                <a:gd name="T44" fmla="*/ 480 w 2048"/>
                <a:gd name="T45" fmla="*/ 420 h 2048"/>
                <a:gd name="T46" fmla="*/ 360 w 2048"/>
                <a:gd name="T47" fmla="*/ 420 h 2048"/>
                <a:gd name="T48" fmla="*/ 1508 w 2048"/>
                <a:gd name="T49" fmla="*/ 1928 h 2048"/>
                <a:gd name="T50" fmla="*/ 1508 w 2048"/>
                <a:gd name="T51" fmla="*/ 1088 h 2048"/>
                <a:gd name="T52" fmla="*/ 1508 w 2048"/>
                <a:gd name="T53" fmla="*/ 1928 h 2048"/>
                <a:gd name="T54" fmla="*/ 1508 w 2048"/>
                <a:gd name="T55" fmla="*/ 968 h 2048"/>
                <a:gd name="T56" fmla="*/ 1148 w 2048"/>
                <a:gd name="T57" fmla="*/ 1088 h 2048"/>
                <a:gd name="T58" fmla="*/ 848 w 2048"/>
                <a:gd name="T59" fmla="*/ 1148 h 2048"/>
                <a:gd name="T60" fmla="*/ 1059 w 2048"/>
                <a:gd name="T61" fmla="*/ 1208 h 2048"/>
                <a:gd name="T62" fmla="*/ 908 w 2048"/>
                <a:gd name="T63" fmla="*/ 1448 h 2048"/>
                <a:gd name="T64" fmla="*/ 908 w 2048"/>
                <a:gd name="T65" fmla="*/ 1568 h 2048"/>
                <a:gd name="T66" fmla="*/ 1059 w 2048"/>
                <a:gd name="T67" fmla="*/ 1808 h 2048"/>
                <a:gd name="T68" fmla="*/ 120 w 2048"/>
                <a:gd name="T69" fmla="*/ 1748 h 2048"/>
                <a:gd name="T70" fmla="*/ 1928 w 2048"/>
                <a:gd name="T71" fmla="*/ 848 h 2048"/>
                <a:gd name="T72" fmla="*/ 1928 w 2048"/>
                <a:gd name="T73" fmla="*/ 728 h 2048"/>
                <a:gd name="T74" fmla="*/ 120 w 2048"/>
                <a:gd name="T75" fmla="*/ 420 h 2048"/>
                <a:gd name="T76" fmla="*/ 240 w 2048"/>
                <a:gd name="T77" fmla="*/ 360 h 2048"/>
                <a:gd name="T78" fmla="*/ 420 w 2048"/>
                <a:gd name="T79" fmla="*/ 600 h 2048"/>
                <a:gd name="T80" fmla="*/ 600 w 2048"/>
                <a:gd name="T81" fmla="*/ 360 h 2048"/>
                <a:gd name="T82" fmla="*/ 848 w 2048"/>
                <a:gd name="T83" fmla="*/ 420 h 2048"/>
                <a:gd name="T84" fmla="*/ 1208 w 2048"/>
                <a:gd name="T85" fmla="*/ 420 h 2048"/>
                <a:gd name="T86" fmla="*/ 1448 w 2048"/>
                <a:gd name="T87" fmla="*/ 360 h 2048"/>
                <a:gd name="T88" fmla="*/ 1628 w 2048"/>
                <a:gd name="T89" fmla="*/ 600 h 2048"/>
                <a:gd name="T90" fmla="*/ 1808 w 2048"/>
                <a:gd name="T91" fmla="*/ 360 h 2048"/>
                <a:gd name="T92" fmla="*/ 1928 w 2048"/>
                <a:gd name="T93" fmla="*/ 42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48" h="2048">
                  <a:moveTo>
                    <a:pt x="1868" y="240"/>
                  </a:moveTo>
                  <a:cubicBezTo>
                    <a:pt x="1808" y="240"/>
                    <a:pt x="1808" y="240"/>
                    <a:pt x="1808" y="240"/>
                  </a:cubicBezTo>
                  <a:cubicBezTo>
                    <a:pt x="1808" y="180"/>
                    <a:pt x="1808" y="180"/>
                    <a:pt x="1808" y="180"/>
                  </a:cubicBezTo>
                  <a:cubicBezTo>
                    <a:pt x="1808" y="81"/>
                    <a:pt x="1727" y="0"/>
                    <a:pt x="1628" y="0"/>
                  </a:cubicBezTo>
                  <a:cubicBezTo>
                    <a:pt x="1529" y="0"/>
                    <a:pt x="1448" y="81"/>
                    <a:pt x="1448" y="180"/>
                  </a:cubicBezTo>
                  <a:cubicBezTo>
                    <a:pt x="1448" y="240"/>
                    <a:pt x="1448" y="240"/>
                    <a:pt x="1448" y="240"/>
                  </a:cubicBezTo>
                  <a:cubicBezTo>
                    <a:pt x="1208" y="240"/>
                    <a:pt x="1208" y="240"/>
                    <a:pt x="1208" y="240"/>
                  </a:cubicBezTo>
                  <a:cubicBezTo>
                    <a:pt x="1208" y="180"/>
                    <a:pt x="1208" y="180"/>
                    <a:pt x="1208" y="180"/>
                  </a:cubicBezTo>
                  <a:cubicBezTo>
                    <a:pt x="1208" y="81"/>
                    <a:pt x="1127" y="0"/>
                    <a:pt x="1028" y="0"/>
                  </a:cubicBezTo>
                  <a:cubicBezTo>
                    <a:pt x="929" y="0"/>
                    <a:pt x="848" y="81"/>
                    <a:pt x="848" y="180"/>
                  </a:cubicBezTo>
                  <a:cubicBezTo>
                    <a:pt x="848" y="240"/>
                    <a:pt x="848" y="240"/>
                    <a:pt x="848" y="240"/>
                  </a:cubicBezTo>
                  <a:cubicBezTo>
                    <a:pt x="600" y="240"/>
                    <a:pt x="600" y="240"/>
                    <a:pt x="600" y="240"/>
                  </a:cubicBezTo>
                  <a:cubicBezTo>
                    <a:pt x="600" y="180"/>
                    <a:pt x="600" y="180"/>
                    <a:pt x="600" y="180"/>
                  </a:cubicBezTo>
                  <a:cubicBezTo>
                    <a:pt x="600" y="81"/>
                    <a:pt x="519" y="0"/>
                    <a:pt x="420" y="0"/>
                  </a:cubicBezTo>
                  <a:cubicBezTo>
                    <a:pt x="321" y="0"/>
                    <a:pt x="240" y="81"/>
                    <a:pt x="240" y="180"/>
                  </a:cubicBezTo>
                  <a:cubicBezTo>
                    <a:pt x="240" y="240"/>
                    <a:pt x="240" y="240"/>
                    <a:pt x="240" y="240"/>
                  </a:cubicBezTo>
                  <a:cubicBezTo>
                    <a:pt x="180" y="240"/>
                    <a:pt x="180" y="240"/>
                    <a:pt x="180" y="240"/>
                  </a:cubicBezTo>
                  <a:cubicBezTo>
                    <a:pt x="81" y="240"/>
                    <a:pt x="0" y="321"/>
                    <a:pt x="0" y="420"/>
                  </a:cubicBezTo>
                  <a:cubicBezTo>
                    <a:pt x="0" y="1748"/>
                    <a:pt x="0" y="1748"/>
                    <a:pt x="0" y="1748"/>
                  </a:cubicBezTo>
                  <a:cubicBezTo>
                    <a:pt x="0" y="1847"/>
                    <a:pt x="81" y="1928"/>
                    <a:pt x="180" y="1928"/>
                  </a:cubicBezTo>
                  <a:cubicBezTo>
                    <a:pt x="1169" y="1928"/>
                    <a:pt x="1169" y="1928"/>
                    <a:pt x="1169" y="1928"/>
                  </a:cubicBezTo>
                  <a:cubicBezTo>
                    <a:pt x="1262" y="2003"/>
                    <a:pt x="1380" y="2048"/>
                    <a:pt x="1508" y="2048"/>
                  </a:cubicBezTo>
                  <a:cubicBezTo>
                    <a:pt x="1806" y="2048"/>
                    <a:pt x="2048" y="1806"/>
                    <a:pt x="2048" y="1508"/>
                  </a:cubicBezTo>
                  <a:cubicBezTo>
                    <a:pt x="2048" y="420"/>
                    <a:pt x="2048" y="420"/>
                    <a:pt x="2048" y="420"/>
                  </a:cubicBezTo>
                  <a:cubicBezTo>
                    <a:pt x="2048" y="321"/>
                    <a:pt x="1967" y="240"/>
                    <a:pt x="1868" y="240"/>
                  </a:cubicBezTo>
                  <a:close/>
                  <a:moveTo>
                    <a:pt x="1568" y="180"/>
                  </a:moveTo>
                  <a:cubicBezTo>
                    <a:pt x="1568" y="147"/>
                    <a:pt x="1595" y="120"/>
                    <a:pt x="1628" y="120"/>
                  </a:cubicBezTo>
                  <a:cubicBezTo>
                    <a:pt x="1661" y="120"/>
                    <a:pt x="1688" y="147"/>
                    <a:pt x="1688" y="180"/>
                  </a:cubicBezTo>
                  <a:cubicBezTo>
                    <a:pt x="1688" y="420"/>
                    <a:pt x="1688" y="420"/>
                    <a:pt x="1688" y="420"/>
                  </a:cubicBezTo>
                  <a:cubicBezTo>
                    <a:pt x="1688" y="453"/>
                    <a:pt x="1661" y="480"/>
                    <a:pt x="1628" y="480"/>
                  </a:cubicBezTo>
                  <a:cubicBezTo>
                    <a:pt x="1595" y="480"/>
                    <a:pt x="1568" y="453"/>
                    <a:pt x="1568" y="420"/>
                  </a:cubicBezTo>
                  <a:lnTo>
                    <a:pt x="1568" y="180"/>
                  </a:lnTo>
                  <a:close/>
                  <a:moveTo>
                    <a:pt x="968" y="300"/>
                  </a:moveTo>
                  <a:cubicBezTo>
                    <a:pt x="968" y="300"/>
                    <a:pt x="968" y="300"/>
                    <a:pt x="968" y="300"/>
                  </a:cubicBezTo>
                  <a:cubicBezTo>
                    <a:pt x="968" y="300"/>
                    <a:pt x="968" y="300"/>
                    <a:pt x="968" y="300"/>
                  </a:cubicBezTo>
                  <a:cubicBezTo>
                    <a:pt x="968" y="180"/>
                    <a:pt x="968" y="180"/>
                    <a:pt x="968" y="180"/>
                  </a:cubicBezTo>
                  <a:cubicBezTo>
                    <a:pt x="968" y="147"/>
                    <a:pt x="995" y="120"/>
                    <a:pt x="1028" y="120"/>
                  </a:cubicBezTo>
                  <a:cubicBezTo>
                    <a:pt x="1061" y="120"/>
                    <a:pt x="1088" y="147"/>
                    <a:pt x="1088" y="180"/>
                  </a:cubicBezTo>
                  <a:cubicBezTo>
                    <a:pt x="1088" y="420"/>
                    <a:pt x="1088" y="420"/>
                    <a:pt x="1088" y="420"/>
                  </a:cubicBezTo>
                  <a:cubicBezTo>
                    <a:pt x="1088" y="453"/>
                    <a:pt x="1061" y="480"/>
                    <a:pt x="1028" y="480"/>
                  </a:cubicBezTo>
                  <a:cubicBezTo>
                    <a:pt x="995" y="480"/>
                    <a:pt x="968" y="453"/>
                    <a:pt x="968" y="420"/>
                  </a:cubicBezTo>
                  <a:lnTo>
                    <a:pt x="968" y="300"/>
                  </a:lnTo>
                  <a:close/>
                  <a:moveTo>
                    <a:pt x="360" y="180"/>
                  </a:moveTo>
                  <a:cubicBezTo>
                    <a:pt x="360" y="147"/>
                    <a:pt x="387" y="120"/>
                    <a:pt x="420" y="120"/>
                  </a:cubicBezTo>
                  <a:cubicBezTo>
                    <a:pt x="453" y="120"/>
                    <a:pt x="480" y="147"/>
                    <a:pt x="480" y="180"/>
                  </a:cubicBezTo>
                  <a:cubicBezTo>
                    <a:pt x="480" y="420"/>
                    <a:pt x="480" y="420"/>
                    <a:pt x="480" y="420"/>
                  </a:cubicBezTo>
                  <a:cubicBezTo>
                    <a:pt x="480" y="453"/>
                    <a:pt x="453" y="480"/>
                    <a:pt x="420" y="480"/>
                  </a:cubicBezTo>
                  <a:cubicBezTo>
                    <a:pt x="387" y="480"/>
                    <a:pt x="360" y="453"/>
                    <a:pt x="360" y="420"/>
                  </a:cubicBezTo>
                  <a:lnTo>
                    <a:pt x="360" y="180"/>
                  </a:lnTo>
                  <a:close/>
                  <a:moveTo>
                    <a:pt x="1508" y="1928"/>
                  </a:moveTo>
                  <a:cubicBezTo>
                    <a:pt x="1276" y="1928"/>
                    <a:pt x="1088" y="1740"/>
                    <a:pt x="1088" y="1508"/>
                  </a:cubicBezTo>
                  <a:cubicBezTo>
                    <a:pt x="1088" y="1276"/>
                    <a:pt x="1276" y="1088"/>
                    <a:pt x="1508" y="1088"/>
                  </a:cubicBezTo>
                  <a:cubicBezTo>
                    <a:pt x="1740" y="1088"/>
                    <a:pt x="1928" y="1276"/>
                    <a:pt x="1928" y="1508"/>
                  </a:cubicBezTo>
                  <a:cubicBezTo>
                    <a:pt x="1928" y="1740"/>
                    <a:pt x="1740" y="1928"/>
                    <a:pt x="1508" y="1928"/>
                  </a:cubicBezTo>
                  <a:close/>
                  <a:moveTo>
                    <a:pt x="1928" y="1169"/>
                  </a:moveTo>
                  <a:cubicBezTo>
                    <a:pt x="1829" y="1046"/>
                    <a:pt x="1677" y="968"/>
                    <a:pt x="1508" y="968"/>
                  </a:cubicBezTo>
                  <a:cubicBezTo>
                    <a:pt x="1378" y="968"/>
                    <a:pt x="1259" y="1014"/>
                    <a:pt x="1166" y="1091"/>
                  </a:cubicBezTo>
                  <a:cubicBezTo>
                    <a:pt x="1160" y="1089"/>
                    <a:pt x="1154" y="1088"/>
                    <a:pt x="1148" y="1088"/>
                  </a:cubicBezTo>
                  <a:cubicBezTo>
                    <a:pt x="908" y="1088"/>
                    <a:pt x="908" y="1088"/>
                    <a:pt x="908" y="1088"/>
                  </a:cubicBezTo>
                  <a:cubicBezTo>
                    <a:pt x="875" y="1088"/>
                    <a:pt x="848" y="1115"/>
                    <a:pt x="848" y="1148"/>
                  </a:cubicBezTo>
                  <a:cubicBezTo>
                    <a:pt x="848" y="1181"/>
                    <a:pt x="875" y="1208"/>
                    <a:pt x="908" y="1208"/>
                  </a:cubicBezTo>
                  <a:cubicBezTo>
                    <a:pt x="1059" y="1208"/>
                    <a:pt x="1059" y="1208"/>
                    <a:pt x="1059" y="1208"/>
                  </a:cubicBezTo>
                  <a:cubicBezTo>
                    <a:pt x="1012" y="1278"/>
                    <a:pt x="981" y="1360"/>
                    <a:pt x="971" y="1448"/>
                  </a:cubicBezTo>
                  <a:cubicBezTo>
                    <a:pt x="908" y="1448"/>
                    <a:pt x="908" y="1448"/>
                    <a:pt x="908" y="1448"/>
                  </a:cubicBezTo>
                  <a:cubicBezTo>
                    <a:pt x="875" y="1448"/>
                    <a:pt x="848" y="1475"/>
                    <a:pt x="848" y="1508"/>
                  </a:cubicBezTo>
                  <a:cubicBezTo>
                    <a:pt x="848" y="1541"/>
                    <a:pt x="875" y="1568"/>
                    <a:pt x="908" y="1568"/>
                  </a:cubicBezTo>
                  <a:cubicBezTo>
                    <a:pt x="971" y="1568"/>
                    <a:pt x="971" y="1568"/>
                    <a:pt x="971" y="1568"/>
                  </a:cubicBezTo>
                  <a:cubicBezTo>
                    <a:pt x="981" y="1656"/>
                    <a:pt x="1012" y="1738"/>
                    <a:pt x="1059" y="1808"/>
                  </a:cubicBezTo>
                  <a:cubicBezTo>
                    <a:pt x="180" y="1808"/>
                    <a:pt x="180" y="1808"/>
                    <a:pt x="180" y="1808"/>
                  </a:cubicBezTo>
                  <a:cubicBezTo>
                    <a:pt x="147" y="1808"/>
                    <a:pt x="120" y="1781"/>
                    <a:pt x="120" y="1748"/>
                  </a:cubicBezTo>
                  <a:cubicBezTo>
                    <a:pt x="120" y="848"/>
                    <a:pt x="120" y="848"/>
                    <a:pt x="120" y="848"/>
                  </a:cubicBezTo>
                  <a:cubicBezTo>
                    <a:pt x="1928" y="848"/>
                    <a:pt x="1928" y="848"/>
                    <a:pt x="1928" y="848"/>
                  </a:cubicBezTo>
                  <a:lnTo>
                    <a:pt x="1928" y="1169"/>
                  </a:lnTo>
                  <a:close/>
                  <a:moveTo>
                    <a:pt x="1928" y="728"/>
                  </a:moveTo>
                  <a:cubicBezTo>
                    <a:pt x="120" y="728"/>
                    <a:pt x="120" y="728"/>
                    <a:pt x="120" y="728"/>
                  </a:cubicBezTo>
                  <a:cubicBezTo>
                    <a:pt x="120" y="420"/>
                    <a:pt x="120" y="420"/>
                    <a:pt x="120" y="420"/>
                  </a:cubicBezTo>
                  <a:cubicBezTo>
                    <a:pt x="120" y="387"/>
                    <a:pt x="147" y="360"/>
                    <a:pt x="180" y="36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240" y="420"/>
                    <a:pt x="240" y="420"/>
                    <a:pt x="240" y="420"/>
                  </a:cubicBezTo>
                  <a:cubicBezTo>
                    <a:pt x="240" y="519"/>
                    <a:pt x="321" y="600"/>
                    <a:pt x="420" y="600"/>
                  </a:cubicBezTo>
                  <a:cubicBezTo>
                    <a:pt x="519" y="600"/>
                    <a:pt x="600" y="519"/>
                    <a:pt x="600" y="420"/>
                  </a:cubicBezTo>
                  <a:cubicBezTo>
                    <a:pt x="600" y="360"/>
                    <a:pt x="600" y="360"/>
                    <a:pt x="600" y="360"/>
                  </a:cubicBezTo>
                  <a:cubicBezTo>
                    <a:pt x="848" y="360"/>
                    <a:pt x="848" y="360"/>
                    <a:pt x="848" y="360"/>
                  </a:cubicBezTo>
                  <a:cubicBezTo>
                    <a:pt x="848" y="420"/>
                    <a:pt x="848" y="420"/>
                    <a:pt x="848" y="420"/>
                  </a:cubicBezTo>
                  <a:cubicBezTo>
                    <a:pt x="848" y="519"/>
                    <a:pt x="929" y="600"/>
                    <a:pt x="1028" y="600"/>
                  </a:cubicBezTo>
                  <a:cubicBezTo>
                    <a:pt x="1127" y="600"/>
                    <a:pt x="1208" y="519"/>
                    <a:pt x="1208" y="420"/>
                  </a:cubicBezTo>
                  <a:cubicBezTo>
                    <a:pt x="1208" y="360"/>
                    <a:pt x="1208" y="360"/>
                    <a:pt x="1208" y="360"/>
                  </a:cubicBezTo>
                  <a:cubicBezTo>
                    <a:pt x="1448" y="360"/>
                    <a:pt x="1448" y="360"/>
                    <a:pt x="1448" y="360"/>
                  </a:cubicBezTo>
                  <a:cubicBezTo>
                    <a:pt x="1448" y="420"/>
                    <a:pt x="1448" y="420"/>
                    <a:pt x="1448" y="420"/>
                  </a:cubicBezTo>
                  <a:cubicBezTo>
                    <a:pt x="1448" y="519"/>
                    <a:pt x="1529" y="600"/>
                    <a:pt x="1628" y="600"/>
                  </a:cubicBezTo>
                  <a:cubicBezTo>
                    <a:pt x="1727" y="600"/>
                    <a:pt x="1808" y="519"/>
                    <a:pt x="1808" y="420"/>
                  </a:cubicBezTo>
                  <a:cubicBezTo>
                    <a:pt x="1808" y="360"/>
                    <a:pt x="1808" y="360"/>
                    <a:pt x="1808" y="360"/>
                  </a:cubicBezTo>
                  <a:cubicBezTo>
                    <a:pt x="1868" y="360"/>
                    <a:pt x="1868" y="360"/>
                    <a:pt x="1868" y="360"/>
                  </a:cubicBezTo>
                  <a:cubicBezTo>
                    <a:pt x="1901" y="360"/>
                    <a:pt x="1928" y="387"/>
                    <a:pt x="1928" y="420"/>
                  </a:cubicBezTo>
                  <a:lnTo>
                    <a:pt x="1928" y="7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74C67E-EF23-EB67-2EA3-9042670CD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68345" y="2679815"/>
            <a:ext cx="0" cy="705734"/>
          </a:xfrm>
          <a:prstGeom prst="line">
            <a:avLst/>
          </a:prstGeom>
          <a:ln w="19050">
            <a:solidFill>
              <a:srgbClr val="303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F21EE52-B7F8-F780-DD6A-4AC652C33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53145" y="3126479"/>
            <a:ext cx="630400" cy="630398"/>
          </a:xfrm>
          <a:prstGeom prst="ellipse">
            <a:avLst/>
          </a:prstGeom>
          <a:solidFill>
            <a:srgbClr val="30353F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F1DF6-B97C-6467-0F19-A2774EEF09AD}"/>
              </a:ext>
            </a:extLst>
          </p:cNvPr>
          <p:cNvSpPr txBox="1"/>
          <p:nvPr/>
        </p:nvSpPr>
        <p:spPr>
          <a:xfrm>
            <a:off x="620231" y="2107871"/>
            <a:ext cx="198451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667181"/>
                </a:solidFill>
              </a:defRPr>
            </a:lvl1pPr>
          </a:lstStyle>
          <a:p>
            <a:r>
              <a:rPr lang="en-US" dirty="0"/>
              <a:t>Run promotions in weak </a:t>
            </a:r>
          </a:p>
          <a:p>
            <a:r>
              <a:rPr lang="en-US" dirty="0"/>
              <a:t>months to boost sales.</a:t>
            </a:r>
            <a:endParaRPr lang="fr-FR" dirty="0"/>
          </a:p>
        </p:txBody>
      </p:sp>
      <p:grpSp>
        <p:nvGrpSpPr>
          <p:cNvPr id="20" name="Group 19" descr="This is an icon of a clock.">
            <a:extLst>
              <a:ext uri="{FF2B5EF4-FFF2-40B4-BE49-F238E27FC236}">
                <a16:creationId xmlns:a16="http://schemas.microsoft.com/office/drawing/2014/main" id="{BEFA0989-34D2-0170-E253-8614C463FFD7}"/>
              </a:ext>
            </a:extLst>
          </p:cNvPr>
          <p:cNvGrpSpPr/>
          <p:nvPr/>
        </p:nvGrpSpPr>
        <p:grpSpPr>
          <a:xfrm>
            <a:off x="1413524" y="3286857"/>
            <a:ext cx="309642" cy="309642"/>
            <a:chOff x="1389063" y="3748088"/>
            <a:chExt cx="336550" cy="336550"/>
          </a:xfrm>
          <a:solidFill>
            <a:schemeClr val="bg1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A5E391FD-C119-5C32-33E9-254E8CF79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3" y="3787776"/>
              <a:ext cx="58738" cy="60325"/>
            </a:xfrm>
            <a:custGeom>
              <a:avLst/>
              <a:gdLst>
                <a:gd name="T0" fmla="*/ 300 w 360"/>
                <a:gd name="T1" fmla="*/ 244 h 364"/>
                <a:gd name="T2" fmla="*/ 120 w 360"/>
                <a:gd name="T3" fmla="*/ 244 h 364"/>
                <a:gd name="T4" fmla="*/ 120 w 360"/>
                <a:gd name="T5" fmla="*/ 60 h 364"/>
                <a:gd name="T6" fmla="*/ 60 w 360"/>
                <a:gd name="T7" fmla="*/ 0 h 364"/>
                <a:gd name="T8" fmla="*/ 0 w 360"/>
                <a:gd name="T9" fmla="*/ 60 h 364"/>
                <a:gd name="T10" fmla="*/ 0 w 360"/>
                <a:gd name="T11" fmla="*/ 304 h 364"/>
                <a:gd name="T12" fmla="*/ 60 w 360"/>
                <a:gd name="T13" fmla="*/ 364 h 364"/>
                <a:gd name="T14" fmla="*/ 300 w 360"/>
                <a:gd name="T15" fmla="*/ 364 h 364"/>
                <a:gd name="T16" fmla="*/ 360 w 360"/>
                <a:gd name="T17" fmla="*/ 304 h 364"/>
                <a:gd name="T18" fmla="*/ 300 w 360"/>
                <a:gd name="T19" fmla="*/ 24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0" h="364">
                  <a:moveTo>
                    <a:pt x="300" y="244"/>
                  </a:moveTo>
                  <a:cubicBezTo>
                    <a:pt x="120" y="244"/>
                    <a:pt x="120" y="244"/>
                    <a:pt x="120" y="244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304"/>
                    <a:pt x="0" y="304"/>
                    <a:pt x="0" y="304"/>
                  </a:cubicBezTo>
                  <a:cubicBezTo>
                    <a:pt x="0" y="337"/>
                    <a:pt x="27" y="364"/>
                    <a:pt x="60" y="364"/>
                  </a:cubicBezTo>
                  <a:cubicBezTo>
                    <a:pt x="300" y="364"/>
                    <a:pt x="300" y="364"/>
                    <a:pt x="300" y="364"/>
                  </a:cubicBezTo>
                  <a:cubicBezTo>
                    <a:pt x="333" y="364"/>
                    <a:pt x="360" y="337"/>
                    <a:pt x="360" y="304"/>
                  </a:cubicBezTo>
                  <a:cubicBezTo>
                    <a:pt x="360" y="271"/>
                    <a:pt x="333" y="244"/>
                    <a:pt x="300" y="2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FDF2E48-131C-5067-F8C1-97A6998677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9063" y="3748088"/>
              <a:ext cx="336550" cy="336550"/>
            </a:xfrm>
            <a:custGeom>
              <a:avLst/>
              <a:gdLst>
                <a:gd name="T0" fmla="*/ 1808 w 2048"/>
                <a:gd name="T1" fmla="*/ 1454 h 2048"/>
                <a:gd name="T2" fmla="*/ 1808 w 2048"/>
                <a:gd name="T3" fmla="*/ 1388 h 2048"/>
                <a:gd name="T4" fmla="*/ 1628 w 2048"/>
                <a:gd name="T5" fmla="*/ 1208 h 2048"/>
                <a:gd name="T6" fmla="*/ 1084 w 2048"/>
                <a:gd name="T7" fmla="*/ 1208 h 2048"/>
                <a:gd name="T8" fmla="*/ 1084 w 2048"/>
                <a:gd name="T9" fmla="*/ 1085 h 2048"/>
                <a:gd name="T10" fmla="*/ 1564 w 2048"/>
                <a:gd name="T11" fmla="*/ 544 h 2048"/>
                <a:gd name="T12" fmla="*/ 1024 w 2048"/>
                <a:gd name="T13" fmla="*/ 0 h 2048"/>
                <a:gd name="T14" fmla="*/ 484 w 2048"/>
                <a:gd name="T15" fmla="*/ 544 h 2048"/>
                <a:gd name="T16" fmla="*/ 964 w 2048"/>
                <a:gd name="T17" fmla="*/ 1085 h 2048"/>
                <a:gd name="T18" fmla="*/ 964 w 2048"/>
                <a:gd name="T19" fmla="*/ 1208 h 2048"/>
                <a:gd name="T20" fmla="*/ 420 w 2048"/>
                <a:gd name="T21" fmla="*/ 1208 h 2048"/>
                <a:gd name="T22" fmla="*/ 240 w 2048"/>
                <a:gd name="T23" fmla="*/ 1388 h 2048"/>
                <a:gd name="T24" fmla="*/ 240 w 2048"/>
                <a:gd name="T25" fmla="*/ 1454 h 2048"/>
                <a:gd name="T26" fmla="*/ 0 w 2048"/>
                <a:gd name="T27" fmla="*/ 1748 h 2048"/>
                <a:gd name="T28" fmla="*/ 300 w 2048"/>
                <a:gd name="T29" fmla="*/ 2048 h 2048"/>
                <a:gd name="T30" fmla="*/ 600 w 2048"/>
                <a:gd name="T31" fmla="*/ 1748 h 2048"/>
                <a:gd name="T32" fmla="*/ 360 w 2048"/>
                <a:gd name="T33" fmla="*/ 1454 h 2048"/>
                <a:gd name="T34" fmla="*/ 360 w 2048"/>
                <a:gd name="T35" fmla="*/ 1388 h 2048"/>
                <a:gd name="T36" fmla="*/ 420 w 2048"/>
                <a:gd name="T37" fmla="*/ 1328 h 2048"/>
                <a:gd name="T38" fmla="*/ 964 w 2048"/>
                <a:gd name="T39" fmla="*/ 1328 h 2048"/>
                <a:gd name="T40" fmla="*/ 964 w 2048"/>
                <a:gd name="T41" fmla="*/ 1454 h 2048"/>
                <a:gd name="T42" fmla="*/ 724 w 2048"/>
                <a:gd name="T43" fmla="*/ 1748 h 2048"/>
                <a:gd name="T44" fmla="*/ 1024 w 2048"/>
                <a:gd name="T45" fmla="*/ 2048 h 2048"/>
                <a:gd name="T46" fmla="*/ 1324 w 2048"/>
                <a:gd name="T47" fmla="*/ 1748 h 2048"/>
                <a:gd name="T48" fmla="*/ 1084 w 2048"/>
                <a:gd name="T49" fmla="*/ 1454 h 2048"/>
                <a:gd name="T50" fmla="*/ 1084 w 2048"/>
                <a:gd name="T51" fmla="*/ 1328 h 2048"/>
                <a:gd name="T52" fmla="*/ 1628 w 2048"/>
                <a:gd name="T53" fmla="*/ 1328 h 2048"/>
                <a:gd name="T54" fmla="*/ 1688 w 2048"/>
                <a:gd name="T55" fmla="*/ 1388 h 2048"/>
                <a:gd name="T56" fmla="*/ 1688 w 2048"/>
                <a:gd name="T57" fmla="*/ 1454 h 2048"/>
                <a:gd name="T58" fmla="*/ 1448 w 2048"/>
                <a:gd name="T59" fmla="*/ 1748 h 2048"/>
                <a:gd name="T60" fmla="*/ 1748 w 2048"/>
                <a:gd name="T61" fmla="*/ 2048 h 2048"/>
                <a:gd name="T62" fmla="*/ 2048 w 2048"/>
                <a:gd name="T63" fmla="*/ 1748 h 2048"/>
                <a:gd name="T64" fmla="*/ 1808 w 2048"/>
                <a:gd name="T65" fmla="*/ 1454 h 2048"/>
                <a:gd name="T66" fmla="*/ 480 w 2048"/>
                <a:gd name="T67" fmla="*/ 1748 h 2048"/>
                <a:gd name="T68" fmla="*/ 300 w 2048"/>
                <a:gd name="T69" fmla="*/ 1928 h 2048"/>
                <a:gd name="T70" fmla="*/ 120 w 2048"/>
                <a:gd name="T71" fmla="*/ 1748 h 2048"/>
                <a:gd name="T72" fmla="*/ 300 w 2048"/>
                <a:gd name="T73" fmla="*/ 1568 h 2048"/>
                <a:gd name="T74" fmla="*/ 480 w 2048"/>
                <a:gd name="T75" fmla="*/ 1748 h 2048"/>
                <a:gd name="T76" fmla="*/ 1204 w 2048"/>
                <a:gd name="T77" fmla="*/ 1748 h 2048"/>
                <a:gd name="T78" fmla="*/ 1024 w 2048"/>
                <a:gd name="T79" fmla="*/ 1928 h 2048"/>
                <a:gd name="T80" fmla="*/ 844 w 2048"/>
                <a:gd name="T81" fmla="*/ 1748 h 2048"/>
                <a:gd name="T82" fmla="*/ 1024 w 2048"/>
                <a:gd name="T83" fmla="*/ 1568 h 2048"/>
                <a:gd name="T84" fmla="*/ 1204 w 2048"/>
                <a:gd name="T85" fmla="*/ 1748 h 2048"/>
                <a:gd name="T86" fmla="*/ 1024 w 2048"/>
                <a:gd name="T87" fmla="*/ 968 h 2048"/>
                <a:gd name="T88" fmla="*/ 604 w 2048"/>
                <a:gd name="T89" fmla="*/ 544 h 2048"/>
                <a:gd name="T90" fmla="*/ 1024 w 2048"/>
                <a:gd name="T91" fmla="*/ 120 h 2048"/>
                <a:gd name="T92" fmla="*/ 1444 w 2048"/>
                <a:gd name="T93" fmla="*/ 544 h 2048"/>
                <a:gd name="T94" fmla="*/ 1024 w 2048"/>
                <a:gd name="T95" fmla="*/ 968 h 2048"/>
                <a:gd name="T96" fmla="*/ 1748 w 2048"/>
                <a:gd name="T97" fmla="*/ 1928 h 2048"/>
                <a:gd name="T98" fmla="*/ 1568 w 2048"/>
                <a:gd name="T99" fmla="*/ 1748 h 2048"/>
                <a:gd name="T100" fmla="*/ 1748 w 2048"/>
                <a:gd name="T101" fmla="*/ 1568 h 2048"/>
                <a:gd name="T102" fmla="*/ 1928 w 2048"/>
                <a:gd name="T103" fmla="*/ 1748 h 2048"/>
                <a:gd name="T104" fmla="*/ 1748 w 2048"/>
                <a:gd name="T105" fmla="*/ 1928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48" h="2048">
                  <a:moveTo>
                    <a:pt x="1808" y="1454"/>
                  </a:moveTo>
                  <a:cubicBezTo>
                    <a:pt x="1808" y="1388"/>
                    <a:pt x="1808" y="1388"/>
                    <a:pt x="1808" y="1388"/>
                  </a:cubicBezTo>
                  <a:cubicBezTo>
                    <a:pt x="1808" y="1289"/>
                    <a:pt x="1727" y="1208"/>
                    <a:pt x="1628" y="1208"/>
                  </a:cubicBezTo>
                  <a:cubicBezTo>
                    <a:pt x="1084" y="1208"/>
                    <a:pt x="1084" y="1208"/>
                    <a:pt x="1084" y="1208"/>
                  </a:cubicBezTo>
                  <a:cubicBezTo>
                    <a:pt x="1084" y="1085"/>
                    <a:pt x="1084" y="1085"/>
                    <a:pt x="1084" y="1085"/>
                  </a:cubicBezTo>
                  <a:cubicBezTo>
                    <a:pt x="1354" y="1054"/>
                    <a:pt x="1564" y="824"/>
                    <a:pt x="1564" y="544"/>
                  </a:cubicBezTo>
                  <a:cubicBezTo>
                    <a:pt x="1564" y="244"/>
                    <a:pt x="1322" y="0"/>
                    <a:pt x="1024" y="0"/>
                  </a:cubicBezTo>
                  <a:cubicBezTo>
                    <a:pt x="726" y="0"/>
                    <a:pt x="484" y="244"/>
                    <a:pt x="484" y="544"/>
                  </a:cubicBezTo>
                  <a:cubicBezTo>
                    <a:pt x="484" y="824"/>
                    <a:pt x="694" y="1054"/>
                    <a:pt x="964" y="1085"/>
                  </a:cubicBezTo>
                  <a:cubicBezTo>
                    <a:pt x="964" y="1208"/>
                    <a:pt x="964" y="1208"/>
                    <a:pt x="964" y="1208"/>
                  </a:cubicBezTo>
                  <a:cubicBezTo>
                    <a:pt x="420" y="1208"/>
                    <a:pt x="420" y="1208"/>
                    <a:pt x="420" y="1208"/>
                  </a:cubicBezTo>
                  <a:cubicBezTo>
                    <a:pt x="321" y="1208"/>
                    <a:pt x="240" y="1289"/>
                    <a:pt x="240" y="1388"/>
                  </a:cubicBezTo>
                  <a:cubicBezTo>
                    <a:pt x="240" y="1454"/>
                    <a:pt x="240" y="1454"/>
                    <a:pt x="240" y="1454"/>
                  </a:cubicBezTo>
                  <a:cubicBezTo>
                    <a:pt x="103" y="1482"/>
                    <a:pt x="0" y="1603"/>
                    <a:pt x="0" y="1748"/>
                  </a:cubicBezTo>
                  <a:cubicBezTo>
                    <a:pt x="0" y="1913"/>
                    <a:pt x="135" y="2048"/>
                    <a:pt x="300" y="2048"/>
                  </a:cubicBezTo>
                  <a:cubicBezTo>
                    <a:pt x="465" y="2048"/>
                    <a:pt x="600" y="1913"/>
                    <a:pt x="600" y="1748"/>
                  </a:cubicBezTo>
                  <a:cubicBezTo>
                    <a:pt x="600" y="1603"/>
                    <a:pt x="497" y="1482"/>
                    <a:pt x="360" y="1454"/>
                  </a:cubicBezTo>
                  <a:cubicBezTo>
                    <a:pt x="360" y="1388"/>
                    <a:pt x="360" y="1388"/>
                    <a:pt x="360" y="1388"/>
                  </a:cubicBezTo>
                  <a:cubicBezTo>
                    <a:pt x="360" y="1355"/>
                    <a:pt x="387" y="1328"/>
                    <a:pt x="420" y="1328"/>
                  </a:cubicBezTo>
                  <a:cubicBezTo>
                    <a:pt x="964" y="1328"/>
                    <a:pt x="964" y="1328"/>
                    <a:pt x="964" y="1328"/>
                  </a:cubicBezTo>
                  <a:cubicBezTo>
                    <a:pt x="964" y="1454"/>
                    <a:pt x="964" y="1454"/>
                    <a:pt x="964" y="1454"/>
                  </a:cubicBezTo>
                  <a:cubicBezTo>
                    <a:pt x="827" y="1482"/>
                    <a:pt x="724" y="1603"/>
                    <a:pt x="724" y="1748"/>
                  </a:cubicBezTo>
                  <a:cubicBezTo>
                    <a:pt x="724" y="1913"/>
                    <a:pt x="859" y="2048"/>
                    <a:pt x="1024" y="2048"/>
                  </a:cubicBezTo>
                  <a:cubicBezTo>
                    <a:pt x="1189" y="2048"/>
                    <a:pt x="1324" y="1913"/>
                    <a:pt x="1324" y="1748"/>
                  </a:cubicBezTo>
                  <a:cubicBezTo>
                    <a:pt x="1324" y="1603"/>
                    <a:pt x="1221" y="1482"/>
                    <a:pt x="1084" y="1454"/>
                  </a:cubicBezTo>
                  <a:cubicBezTo>
                    <a:pt x="1084" y="1328"/>
                    <a:pt x="1084" y="1328"/>
                    <a:pt x="1084" y="1328"/>
                  </a:cubicBezTo>
                  <a:cubicBezTo>
                    <a:pt x="1628" y="1328"/>
                    <a:pt x="1628" y="1328"/>
                    <a:pt x="1628" y="1328"/>
                  </a:cubicBezTo>
                  <a:cubicBezTo>
                    <a:pt x="1661" y="1328"/>
                    <a:pt x="1688" y="1355"/>
                    <a:pt x="1688" y="1388"/>
                  </a:cubicBezTo>
                  <a:cubicBezTo>
                    <a:pt x="1688" y="1454"/>
                    <a:pt x="1688" y="1454"/>
                    <a:pt x="1688" y="1454"/>
                  </a:cubicBezTo>
                  <a:cubicBezTo>
                    <a:pt x="1551" y="1482"/>
                    <a:pt x="1448" y="1603"/>
                    <a:pt x="1448" y="1748"/>
                  </a:cubicBezTo>
                  <a:cubicBezTo>
                    <a:pt x="1448" y="1913"/>
                    <a:pt x="1583" y="2048"/>
                    <a:pt x="1748" y="2048"/>
                  </a:cubicBezTo>
                  <a:cubicBezTo>
                    <a:pt x="1913" y="2048"/>
                    <a:pt x="2048" y="1913"/>
                    <a:pt x="2048" y="1748"/>
                  </a:cubicBezTo>
                  <a:cubicBezTo>
                    <a:pt x="2048" y="1603"/>
                    <a:pt x="1945" y="1482"/>
                    <a:pt x="1808" y="1454"/>
                  </a:cubicBezTo>
                  <a:close/>
                  <a:moveTo>
                    <a:pt x="480" y="1748"/>
                  </a:moveTo>
                  <a:cubicBezTo>
                    <a:pt x="480" y="1847"/>
                    <a:pt x="399" y="1928"/>
                    <a:pt x="300" y="1928"/>
                  </a:cubicBezTo>
                  <a:cubicBezTo>
                    <a:pt x="201" y="1928"/>
                    <a:pt x="120" y="1847"/>
                    <a:pt x="120" y="1748"/>
                  </a:cubicBezTo>
                  <a:cubicBezTo>
                    <a:pt x="120" y="1649"/>
                    <a:pt x="201" y="1568"/>
                    <a:pt x="300" y="1568"/>
                  </a:cubicBezTo>
                  <a:cubicBezTo>
                    <a:pt x="399" y="1568"/>
                    <a:pt x="480" y="1649"/>
                    <a:pt x="480" y="1748"/>
                  </a:cubicBezTo>
                  <a:close/>
                  <a:moveTo>
                    <a:pt x="1204" y="1748"/>
                  </a:moveTo>
                  <a:cubicBezTo>
                    <a:pt x="1204" y="1847"/>
                    <a:pt x="1123" y="1928"/>
                    <a:pt x="1024" y="1928"/>
                  </a:cubicBezTo>
                  <a:cubicBezTo>
                    <a:pt x="925" y="1928"/>
                    <a:pt x="844" y="1847"/>
                    <a:pt x="844" y="1748"/>
                  </a:cubicBezTo>
                  <a:cubicBezTo>
                    <a:pt x="844" y="1649"/>
                    <a:pt x="925" y="1568"/>
                    <a:pt x="1024" y="1568"/>
                  </a:cubicBezTo>
                  <a:cubicBezTo>
                    <a:pt x="1123" y="1568"/>
                    <a:pt x="1204" y="1649"/>
                    <a:pt x="1204" y="1748"/>
                  </a:cubicBezTo>
                  <a:close/>
                  <a:moveTo>
                    <a:pt x="1024" y="968"/>
                  </a:moveTo>
                  <a:cubicBezTo>
                    <a:pt x="792" y="968"/>
                    <a:pt x="604" y="778"/>
                    <a:pt x="604" y="544"/>
                  </a:cubicBezTo>
                  <a:cubicBezTo>
                    <a:pt x="604" y="310"/>
                    <a:pt x="792" y="120"/>
                    <a:pt x="1024" y="120"/>
                  </a:cubicBezTo>
                  <a:cubicBezTo>
                    <a:pt x="1256" y="120"/>
                    <a:pt x="1444" y="310"/>
                    <a:pt x="1444" y="544"/>
                  </a:cubicBezTo>
                  <a:cubicBezTo>
                    <a:pt x="1444" y="778"/>
                    <a:pt x="1256" y="968"/>
                    <a:pt x="1024" y="968"/>
                  </a:cubicBezTo>
                  <a:close/>
                  <a:moveTo>
                    <a:pt x="1748" y="1928"/>
                  </a:moveTo>
                  <a:cubicBezTo>
                    <a:pt x="1649" y="1928"/>
                    <a:pt x="1568" y="1847"/>
                    <a:pt x="1568" y="1748"/>
                  </a:cubicBezTo>
                  <a:cubicBezTo>
                    <a:pt x="1568" y="1649"/>
                    <a:pt x="1649" y="1568"/>
                    <a:pt x="1748" y="1568"/>
                  </a:cubicBezTo>
                  <a:cubicBezTo>
                    <a:pt x="1847" y="1568"/>
                    <a:pt x="1928" y="1649"/>
                    <a:pt x="1928" y="1748"/>
                  </a:cubicBezTo>
                  <a:cubicBezTo>
                    <a:pt x="1928" y="1847"/>
                    <a:pt x="1847" y="1928"/>
                    <a:pt x="1748" y="19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149D15-10E3-9FF0-D254-EC37C66BB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722155" y="3596184"/>
            <a:ext cx="0" cy="705734"/>
          </a:xfrm>
          <a:prstGeom prst="line">
            <a:avLst/>
          </a:prstGeom>
          <a:ln w="19050">
            <a:solidFill>
              <a:srgbClr val="667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C5C5ABC-6DB8-3596-F3F1-87DD6E0D1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06955" y="3174046"/>
            <a:ext cx="630400" cy="630398"/>
          </a:xfrm>
          <a:prstGeom prst="ellipse">
            <a:avLst/>
          </a:prstGeom>
          <a:solidFill>
            <a:srgbClr val="66718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4F4F21-6BD7-08E6-0E28-9DED9157B5E6}"/>
              </a:ext>
            </a:extLst>
          </p:cNvPr>
          <p:cNvSpPr txBox="1"/>
          <p:nvPr/>
        </p:nvSpPr>
        <p:spPr>
          <a:xfrm>
            <a:off x="2345976" y="4478393"/>
            <a:ext cx="27523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rgbClr val="667181"/>
                </a:solidFill>
              </a:rPr>
              <a:t>Expand marketing and distribution</a:t>
            </a:r>
          </a:p>
          <a:p>
            <a:pPr algn="ctr"/>
            <a:r>
              <a:rPr lang="en-US" sz="1400" b="1" dirty="0">
                <a:solidFill>
                  <a:srgbClr val="667181"/>
                </a:solidFill>
              </a:rPr>
              <a:t> in Canada &amp; New Zealand.</a:t>
            </a:r>
          </a:p>
        </p:txBody>
      </p:sp>
      <p:grpSp>
        <p:nvGrpSpPr>
          <p:cNvPr id="26" name="Group 25" descr="This is an icon of three human beings and a clock.">
            <a:extLst>
              <a:ext uri="{FF2B5EF4-FFF2-40B4-BE49-F238E27FC236}">
                <a16:creationId xmlns:a16="http://schemas.microsoft.com/office/drawing/2014/main" id="{00A851C1-5AF0-229B-1DAF-12969FEA3CF1}"/>
              </a:ext>
            </a:extLst>
          </p:cNvPr>
          <p:cNvGrpSpPr/>
          <p:nvPr/>
        </p:nvGrpSpPr>
        <p:grpSpPr>
          <a:xfrm>
            <a:off x="3542796" y="3309887"/>
            <a:ext cx="358718" cy="358717"/>
            <a:chOff x="3613150" y="3706813"/>
            <a:chExt cx="420688" cy="420687"/>
          </a:xfrm>
        </p:grpSpPr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441627D0-0CC7-C575-D2E2-81FDD93E72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150" y="3930650"/>
              <a:ext cx="420688" cy="196850"/>
            </a:xfrm>
            <a:custGeom>
              <a:avLst/>
              <a:gdLst>
                <a:gd name="T0" fmla="*/ 1823 w 2048"/>
                <a:gd name="T1" fmla="*/ 528 h 960"/>
                <a:gd name="T2" fmla="*/ 1928 w 2048"/>
                <a:gd name="T3" fmla="*/ 300 h 960"/>
                <a:gd name="T4" fmla="*/ 1628 w 2048"/>
                <a:gd name="T5" fmla="*/ 0 h 960"/>
                <a:gd name="T6" fmla="*/ 1324 w 2048"/>
                <a:gd name="T7" fmla="*/ 300 h 960"/>
                <a:gd name="T8" fmla="*/ 1432 w 2048"/>
                <a:gd name="T9" fmla="*/ 528 h 960"/>
                <a:gd name="T10" fmla="*/ 1324 w 2048"/>
                <a:gd name="T11" fmla="*/ 606 h 960"/>
                <a:gd name="T12" fmla="*/ 1219 w 2048"/>
                <a:gd name="T13" fmla="*/ 528 h 960"/>
                <a:gd name="T14" fmla="*/ 1324 w 2048"/>
                <a:gd name="T15" fmla="*/ 300 h 960"/>
                <a:gd name="T16" fmla="*/ 1024 w 2048"/>
                <a:gd name="T17" fmla="*/ 0 h 960"/>
                <a:gd name="T18" fmla="*/ 724 w 2048"/>
                <a:gd name="T19" fmla="*/ 300 h 960"/>
                <a:gd name="T20" fmla="*/ 829 w 2048"/>
                <a:gd name="T21" fmla="*/ 528 h 960"/>
                <a:gd name="T22" fmla="*/ 724 w 2048"/>
                <a:gd name="T23" fmla="*/ 606 h 960"/>
                <a:gd name="T24" fmla="*/ 619 w 2048"/>
                <a:gd name="T25" fmla="*/ 528 h 960"/>
                <a:gd name="T26" fmla="*/ 724 w 2048"/>
                <a:gd name="T27" fmla="*/ 300 h 960"/>
                <a:gd name="T28" fmla="*/ 424 w 2048"/>
                <a:gd name="T29" fmla="*/ 0 h 960"/>
                <a:gd name="T30" fmla="*/ 124 w 2048"/>
                <a:gd name="T31" fmla="*/ 300 h 960"/>
                <a:gd name="T32" fmla="*/ 229 w 2048"/>
                <a:gd name="T33" fmla="*/ 527 h 960"/>
                <a:gd name="T34" fmla="*/ 0 w 2048"/>
                <a:gd name="T35" fmla="*/ 900 h 960"/>
                <a:gd name="T36" fmla="*/ 60 w 2048"/>
                <a:gd name="T37" fmla="*/ 960 h 960"/>
                <a:gd name="T38" fmla="*/ 1988 w 2048"/>
                <a:gd name="T39" fmla="*/ 960 h 960"/>
                <a:gd name="T40" fmla="*/ 2048 w 2048"/>
                <a:gd name="T41" fmla="*/ 900 h 960"/>
                <a:gd name="T42" fmla="*/ 1823 w 2048"/>
                <a:gd name="T43" fmla="*/ 528 h 960"/>
                <a:gd name="T44" fmla="*/ 424 w 2048"/>
                <a:gd name="T45" fmla="*/ 120 h 960"/>
                <a:gd name="T46" fmla="*/ 604 w 2048"/>
                <a:gd name="T47" fmla="*/ 300 h 960"/>
                <a:gd name="T48" fmla="*/ 424 w 2048"/>
                <a:gd name="T49" fmla="*/ 480 h 960"/>
                <a:gd name="T50" fmla="*/ 244 w 2048"/>
                <a:gd name="T51" fmla="*/ 300 h 960"/>
                <a:gd name="T52" fmla="*/ 424 w 2048"/>
                <a:gd name="T53" fmla="*/ 120 h 960"/>
                <a:gd name="T54" fmla="*/ 608 w 2048"/>
                <a:gd name="T55" fmla="*/ 840 h 960"/>
                <a:gd name="T56" fmla="*/ 126 w 2048"/>
                <a:gd name="T57" fmla="*/ 840 h 960"/>
                <a:gd name="T58" fmla="*/ 424 w 2048"/>
                <a:gd name="T59" fmla="*/ 600 h 960"/>
                <a:gd name="T60" fmla="*/ 652 w 2048"/>
                <a:gd name="T61" fmla="*/ 705 h 960"/>
                <a:gd name="T62" fmla="*/ 608 w 2048"/>
                <a:gd name="T63" fmla="*/ 840 h 960"/>
                <a:gd name="T64" fmla="*/ 1024 w 2048"/>
                <a:gd name="T65" fmla="*/ 120 h 960"/>
                <a:gd name="T66" fmla="*/ 1204 w 2048"/>
                <a:gd name="T67" fmla="*/ 300 h 960"/>
                <a:gd name="T68" fmla="*/ 1024 w 2048"/>
                <a:gd name="T69" fmla="*/ 480 h 960"/>
                <a:gd name="T70" fmla="*/ 844 w 2048"/>
                <a:gd name="T71" fmla="*/ 300 h 960"/>
                <a:gd name="T72" fmla="*/ 1024 w 2048"/>
                <a:gd name="T73" fmla="*/ 120 h 960"/>
                <a:gd name="T74" fmla="*/ 730 w 2048"/>
                <a:gd name="T75" fmla="*/ 840 h 960"/>
                <a:gd name="T76" fmla="*/ 1024 w 2048"/>
                <a:gd name="T77" fmla="*/ 600 h 960"/>
                <a:gd name="T78" fmla="*/ 1318 w 2048"/>
                <a:gd name="T79" fmla="*/ 840 h 960"/>
                <a:gd name="T80" fmla="*/ 730 w 2048"/>
                <a:gd name="T81" fmla="*/ 840 h 960"/>
                <a:gd name="T82" fmla="*/ 1628 w 2048"/>
                <a:gd name="T83" fmla="*/ 120 h 960"/>
                <a:gd name="T84" fmla="*/ 1808 w 2048"/>
                <a:gd name="T85" fmla="*/ 300 h 960"/>
                <a:gd name="T86" fmla="*/ 1628 w 2048"/>
                <a:gd name="T87" fmla="*/ 480 h 960"/>
                <a:gd name="T88" fmla="*/ 1444 w 2048"/>
                <a:gd name="T89" fmla="*/ 300 h 960"/>
                <a:gd name="T90" fmla="*/ 1628 w 2048"/>
                <a:gd name="T91" fmla="*/ 120 h 960"/>
                <a:gd name="T92" fmla="*/ 1440 w 2048"/>
                <a:gd name="T93" fmla="*/ 840 h 960"/>
                <a:gd name="T94" fmla="*/ 1396 w 2048"/>
                <a:gd name="T95" fmla="*/ 705 h 960"/>
                <a:gd name="T96" fmla="*/ 1628 w 2048"/>
                <a:gd name="T97" fmla="*/ 600 h 960"/>
                <a:gd name="T98" fmla="*/ 1922 w 2048"/>
                <a:gd name="T99" fmla="*/ 840 h 960"/>
                <a:gd name="T100" fmla="*/ 1440 w 2048"/>
                <a:gd name="T101" fmla="*/ 84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48" h="960">
                  <a:moveTo>
                    <a:pt x="1823" y="528"/>
                  </a:moveTo>
                  <a:cubicBezTo>
                    <a:pt x="1887" y="473"/>
                    <a:pt x="1928" y="391"/>
                    <a:pt x="1928" y="300"/>
                  </a:cubicBezTo>
                  <a:cubicBezTo>
                    <a:pt x="1928" y="135"/>
                    <a:pt x="1793" y="0"/>
                    <a:pt x="1628" y="0"/>
                  </a:cubicBezTo>
                  <a:cubicBezTo>
                    <a:pt x="1462" y="0"/>
                    <a:pt x="1324" y="134"/>
                    <a:pt x="1324" y="300"/>
                  </a:cubicBezTo>
                  <a:cubicBezTo>
                    <a:pt x="1324" y="387"/>
                    <a:pt x="1362" y="469"/>
                    <a:pt x="1432" y="528"/>
                  </a:cubicBezTo>
                  <a:cubicBezTo>
                    <a:pt x="1392" y="548"/>
                    <a:pt x="1355" y="575"/>
                    <a:pt x="1324" y="606"/>
                  </a:cubicBezTo>
                  <a:cubicBezTo>
                    <a:pt x="1293" y="575"/>
                    <a:pt x="1258" y="549"/>
                    <a:pt x="1219" y="528"/>
                  </a:cubicBezTo>
                  <a:cubicBezTo>
                    <a:pt x="1283" y="473"/>
                    <a:pt x="1324" y="391"/>
                    <a:pt x="1324" y="300"/>
                  </a:cubicBezTo>
                  <a:cubicBezTo>
                    <a:pt x="1324" y="135"/>
                    <a:pt x="1189" y="0"/>
                    <a:pt x="1024" y="0"/>
                  </a:cubicBezTo>
                  <a:cubicBezTo>
                    <a:pt x="859" y="0"/>
                    <a:pt x="724" y="135"/>
                    <a:pt x="724" y="300"/>
                  </a:cubicBezTo>
                  <a:cubicBezTo>
                    <a:pt x="724" y="391"/>
                    <a:pt x="765" y="473"/>
                    <a:pt x="829" y="528"/>
                  </a:cubicBezTo>
                  <a:cubicBezTo>
                    <a:pt x="790" y="548"/>
                    <a:pt x="755" y="575"/>
                    <a:pt x="724" y="606"/>
                  </a:cubicBezTo>
                  <a:cubicBezTo>
                    <a:pt x="693" y="574"/>
                    <a:pt x="658" y="548"/>
                    <a:pt x="619" y="528"/>
                  </a:cubicBezTo>
                  <a:cubicBezTo>
                    <a:pt x="683" y="473"/>
                    <a:pt x="724" y="391"/>
                    <a:pt x="724" y="300"/>
                  </a:cubicBezTo>
                  <a:cubicBezTo>
                    <a:pt x="724" y="135"/>
                    <a:pt x="589" y="0"/>
                    <a:pt x="424" y="0"/>
                  </a:cubicBezTo>
                  <a:cubicBezTo>
                    <a:pt x="259" y="0"/>
                    <a:pt x="124" y="135"/>
                    <a:pt x="124" y="300"/>
                  </a:cubicBezTo>
                  <a:cubicBezTo>
                    <a:pt x="124" y="391"/>
                    <a:pt x="165" y="472"/>
                    <a:pt x="229" y="527"/>
                  </a:cubicBezTo>
                  <a:cubicBezTo>
                    <a:pt x="93" y="597"/>
                    <a:pt x="0" y="738"/>
                    <a:pt x="0" y="900"/>
                  </a:cubicBezTo>
                  <a:cubicBezTo>
                    <a:pt x="0" y="933"/>
                    <a:pt x="27" y="960"/>
                    <a:pt x="60" y="960"/>
                  </a:cubicBezTo>
                  <a:cubicBezTo>
                    <a:pt x="70" y="960"/>
                    <a:pt x="1948" y="960"/>
                    <a:pt x="1988" y="960"/>
                  </a:cubicBezTo>
                  <a:cubicBezTo>
                    <a:pt x="2021" y="960"/>
                    <a:pt x="2048" y="933"/>
                    <a:pt x="2048" y="900"/>
                  </a:cubicBezTo>
                  <a:cubicBezTo>
                    <a:pt x="2048" y="739"/>
                    <a:pt x="1957" y="598"/>
                    <a:pt x="1823" y="528"/>
                  </a:cubicBezTo>
                  <a:close/>
                  <a:moveTo>
                    <a:pt x="424" y="120"/>
                  </a:moveTo>
                  <a:cubicBezTo>
                    <a:pt x="523" y="120"/>
                    <a:pt x="604" y="201"/>
                    <a:pt x="604" y="300"/>
                  </a:cubicBezTo>
                  <a:cubicBezTo>
                    <a:pt x="604" y="399"/>
                    <a:pt x="523" y="480"/>
                    <a:pt x="424" y="480"/>
                  </a:cubicBezTo>
                  <a:cubicBezTo>
                    <a:pt x="325" y="480"/>
                    <a:pt x="244" y="399"/>
                    <a:pt x="244" y="300"/>
                  </a:cubicBezTo>
                  <a:cubicBezTo>
                    <a:pt x="244" y="201"/>
                    <a:pt x="325" y="120"/>
                    <a:pt x="424" y="120"/>
                  </a:cubicBezTo>
                  <a:close/>
                  <a:moveTo>
                    <a:pt x="608" y="840"/>
                  </a:moveTo>
                  <a:cubicBezTo>
                    <a:pt x="126" y="840"/>
                    <a:pt x="126" y="840"/>
                    <a:pt x="126" y="840"/>
                  </a:cubicBezTo>
                  <a:cubicBezTo>
                    <a:pt x="154" y="703"/>
                    <a:pt x="277" y="600"/>
                    <a:pt x="424" y="600"/>
                  </a:cubicBezTo>
                  <a:cubicBezTo>
                    <a:pt x="512" y="600"/>
                    <a:pt x="595" y="639"/>
                    <a:pt x="652" y="705"/>
                  </a:cubicBezTo>
                  <a:cubicBezTo>
                    <a:pt x="630" y="746"/>
                    <a:pt x="615" y="792"/>
                    <a:pt x="608" y="840"/>
                  </a:cubicBezTo>
                  <a:close/>
                  <a:moveTo>
                    <a:pt x="1024" y="120"/>
                  </a:moveTo>
                  <a:cubicBezTo>
                    <a:pt x="1123" y="120"/>
                    <a:pt x="1204" y="201"/>
                    <a:pt x="1204" y="300"/>
                  </a:cubicBezTo>
                  <a:cubicBezTo>
                    <a:pt x="1204" y="399"/>
                    <a:pt x="1123" y="480"/>
                    <a:pt x="1024" y="480"/>
                  </a:cubicBezTo>
                  <a:cubicBezTo>
                    <a:pt x="925" y="480"/>
                    <a:pt x="844" y="399"/>
                    <a:pt x="844" y="300"/>
                  </a:cubicBezTo>
                  <a:cubicBezTo>
                    <a:pt x="844" y="201"/>
                    <a:pt x="925" y="120"/>
                    <a:pt x="1024" y="120"/>
                  </a:cubicBezTo>
                  <a:close/>
                  <a:moveTo>
                    <a:pt x="730" y="840"/>
                  </a:moveTo>
                  <a:cubicBezTo>
                    <a:pt x="758" y="703"/>
                    <a:pt x="879" y="600"/>
                    <a:pt x="1024" y="600"/>
                  </a:cubicBezTo>
                  <a:cubicBezTo>
                    <a:pt x="1169" y="600"/>
                    <a:pt x="1290" y="703"/>
                    <a:pt x="1318" y="840"/>
                  </a:cubicBezTo>
                  <a:cubicBezTo>
                    <a:pt x="1298" y="840"/>
                    <a:pt x="755" y="840"/>
                    <a:pt x="730" y="840"/>
                  </a:cubicBezTo>
                  <a:close/>
                  <a:moveTo>
                    <a:pt x="1628" y="120"/>
                  </a:moveTo>
                  <a:cubicBezTo>
                    <a:pt x="1727" y="120"/>
                    <a:pt x="1808" y="201"/>
                    <a:pt x="1808" y="300"/>
                  </a:cubicBezTo>
                  <a:cubicBezTo>
                    <a:pt x="1808" y="399"/>
                    <a:pt x="1727" y="480"/>
                    <a:pt x="1628" y="480"/>
                  </a:cubicBezTo>
                  <a:cubicBezTo>
                    <a:pt x="1528" y="480"/>
                    <a:pt x="1444" y="398"/>
                    <a:pt x="1444" y="300"/>
                  </a:cubicBezTo>
                  <a:cubicBezTo>
                    <a:pt x="1444" y="202"/>
                    <a:pt x="1528" y="120"/>
                    <a:pt x="1628" y="120"/>
                  </a:cubicBezTo>
                  <a:close/>
                  <a:moveTo>
                    <a:pt x="1440" y="840"/>
                  </a:moveTo>
                  <a:cubicBezTo>
                    <a:pt x="1433" y="792"/>
                    <a:pt x="1418" y="747"/>
                    <a:pt x="1396" y="705"/>
                  </a:cubicBezTo>
                  <a:cubicBezTo>
                    <a:pt x="1453" y="640"/>
                    <a:pt x="1539" y="600"/>
                    <a:pt x="1628" y="600"/>
                  </a:cubicBezTo>
                  <a:cubicBezTo>
                    <a:pt x="1773" y="600"/>
                    <a:pt x="1894" y="703"/>
                    <a:pt x="1922" y="840"/>
                  </a:cubicBezTo>
                  <a:lnTo>
                    <a:pt x="1440" y="8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63679402-A9C6-9CE3-95CA-04DC62F28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600" y="3768725"/>
              <a:ext cx="101600" cy="74612"/>
            </a:xfrm>
            <a:custGeom>
              <a:avLst/>
              <a:gdLst>
                <a:gd name="T0" fmla="*/ 468 w 492"/>
                <a:gd name="T1" fmla="*/ 24 h 366"/>
                <a:gd name="T2" fmla="*/ 384 w 492"/>
                <a:gd name="T3" fmla="*/ 24 h 366"/>
                <a:gd name="T4" fmla="*/ 186 w 492"/>
                <a:gd name="T5" fmla="*/ 221 h 366"/>
                <a:gd name="T6" fmla="*/ 108 w 492"/>
                <a:gd name="T7" fmla="*/ 144 h 366"/>
                <a:gd name="T8" fmla="*/ 24 w 492"/>
                <a:gd name="T9" fmla="*/ 144 h 366"/>
                <a:gd name="T10" fmla="*/ 24 w 492"/>
                <a:gd name="T11" fmla="*/ 228 h 366"/>
                <a:gd name="T12" fmla="*/ 144 w 492"/>
                <a:gd name="T13" fmla="*/ 348 h 366"/>
                <a:gd name="T14" fmla="*/ 186 w 492"/>
                <a:gd name="T15" fmla="*/ 366 h 366"/>
                <a:gd name="T16" fmla="*/ 228 w 492"/>
                <a:gd name="T17" fmla="*/ 348 h 366"/>
                <a:gd name="T18" fmla="*/ 468 w 492"/>
                <a:gd name="T19" fmla="*/ 108 h 366"/>
                <a:gd name="T20" fmla="*/ 468 w 492"/>
                <a:gd name="T21" fmla="*/ 24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2" h="366">
                  <a:moveTo>
                    <a:pt x="468" y="24"/>
                  </a:moveTo>
                  <a:cubicBezTo>
                    <a:pt x="445" y="0"/>
                    <a:pt x="407" y="0"/>
                    <a:pt x="384" y="24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08" y="144"/>
                    <a:pt x="108" y="144"/>
                    <a:pt x="108" y="144"/>
                  </a:cubicBezTo>
                  <a:cubicBezTo>
                    <a:pt x="85" y="120"/>
                    <a:pt x="47" y="120"/>
                    <a:pt x="24" y="144"/>
                  </a:cubicBezTo>
                  <a:cubicBezTo>
                    <a:pt x="0" y="167"/>
                    <a:pt x="0" y="205"/>
                    <a:pt x="24" y="228"/>
                  </a:cubicBezTo>
                  <a:cubicBezTo>
                    <a:pt x="144" y="348"/>
                    <a:pt x="144" y="348"/>
                    <a:pt x="144" y="348"/>
                  </a:cubicBezTo>
                  <a:cubicBezTo>
                    <a:pt x="155" y="360"/>
                    <a:pt x="171" y="366"/>
                    <a:pt x="186" y="366"/>
                  </a:cubicBezTo>
                  <a:cubicBezTo>
                    <a:pt x="201" y="366"/>
                    <a:pt x="217" y="360"/>
                    <a:pt x="228" y="348"/>
                  </a:cubicBezTo>
                  <a:cubicBezTo>
                    <a:pt x="468" y="108"/>
                    <a:pt x="468" y="108"/>
                    <a:pt x="468" y="108"/>
                  </a:cubicBezTo>
                  <a:cubicBezTo>
                    <a:pt x="492" y="85"/>
                    <a:pt x="492" y="47"/>
                    <a:pt x="46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4903C115-C26D-443C-4505-D797D5E811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6975" y="3706813"/>
              <a:ext cx="198438" cy="198437"/>
            </a:xfrm>
            <a:custGeom>
              <a:avLst/>
              <a:gdLst>
                <a:gd name="T0" fmla="*/ 480 w 964"/>
                <a:gd name="T1" fmla="*/ 0 h 968"/>
                <a:gd name="T2" fmla="*/ 0 w 964"/>
                <a:gd name="T3" fmla="*/ 484 h 968"/>
                <a:gd name="T4" fmla="*/ 480 w 964"/>
                <a:gd name="T5" fmla="*/ 968 h 968"/>
                <a:gd name="T6" fmla="*/ 964 w 964"/>
                <a:gd name="T7" fmla="*/ 484 h 968"/>
                <a:gd name="T8" fmla="*/ 480 w 964"/>
                <a:gd name="T9" fmla="*/ 0 h 968"/>
                <a:gd name="T10" fmla="*/ 480 w 964"/>
                <a:gd name="T11" fmla="*/ 848 h 968"/>
                <a:gd name="T12" fmla="*/ 120 w 964"/>
                <a:gd name="T13" fmla="*/ 484 h 968"/>
                <a:gd name="T14" fmla="*/ 480 w 964"/>
                <a:gd name="T15" fmla="*/ 120 h 968"/>
                <a:gd name="T16" fmla="*/ 844 w 964"/>
                <a:gd name="T17" fmla="*/ 484 h 968"/>
                <a:gd name="T18" fmla="*/ 480 w 964"/>
                <a:gd name="T19" fmla="*/ 848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4" h="968">
                  <a:moveTo>
                    <a:pt x="480" y="0"/>
                  </a:moveTo>
                  <a:cubicBezTo>
                    <a:pt x="215" y="0"/>
                    <a:pt x="0" y="217"/>
                    <a:pt x="0" y="484"/>
                  </a:cubicBezTo>
                  <a:cubicBezTo>
                    <a:pt x="0" y="751"/>
                    <a:pt x="215" y="968"/>
                    <a:pt x="480" y="968"/>
                  </a:cubicBezTo>
                  <a:cubicBezTo>
                    <a:pt x="745" y="968"/>
                    <a:pt x="964" y="750"/>
                    <a:pt x="964" y="484"/>
                  </a:cubicBezTo>
                  <a:cubicBezTo>
                    <a:pt x="964" y="219"/>
                    <a:pt x="746" y="0"/>
                    <a:pt x="480" y="0"/>
                  </a:cubicBezTo>
                  <a:close/>
                  <a:moveTo>
                    <a:pt x="480" y="848"/>
                  </a:moveTo>
                  <a:cubicBezTo>
                    <a:pt x="281" y="848"/>
                    <a:pt x="120" y="685"/>
                    <a:pt x="120" y="484"/>
                  </a:cubicBezTo>
                  <a:cubicBezTo>
                    <a:pt x="120" y="283"/>
                    <a:pt x="281" y="120"/>
                    <a:pt x="480" y="120"/>
                  </a:cubicBezTo>
                  <a:cubicBezTo>
                    <a:pt x="677" y="120"/>
                    <a:pt x="844" y="287"/>
                    <a:pt x="844" y="484"/>
                  </a:cubicBezTo>
                  <a:cubicBezTo>
                    <a:pt x="844" y="681"/>
                    <a:pt x="677" y="848"/>
                    <a:pt x="480" y="8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BD1EAB-F8CB-0D9F-4F31-D5F3431C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75965" y="2679815"/>
            <a:ext cx="0" cy="705734"/>
          </a:xfrm>
          <a:prstGeom prst="line">
            <a:avLst/>
          </a:prstGeom>
          <a:ln w="19050">
            <a:solidFill>
              <a:srgbClr val="98A3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2E238755-1D91-90E5-F7AE-451C5FBFE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765" y="3174046"/>
            <a:ext cx="630400" cy="630398"/>
          </a:xfrm>
          <a:prstGeom prst="ellipse">
            <a:avLst/>
          </a:prstGeom>
          <a:solidFill>
            <a:srgbClr val="98A3AD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494972-BBAC-E864-051A-522FEDF4D24E}"/>
              </a:ext>
            </a:extLst>
          </p:cNvPr>
          <p:cNvSpPr txBox="1"/>
          <p:nvPr/>
        </p:nvSpPr>
        <p:spPr>
          <a:xfrm>
            <a:off x="4625192" y="2107870"/>
            <a:ext cx="255358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rgbClr val="98A3AD"/>
                </a:solidFill>
              </a:rPr>
              <a:t>Use different product strategies</a:t>
            </a:r>
          </a:p>
          <a:p>
            <a:pPr algn="ctr"/>
            <a:r>
              <a:rPr lang="en-US" sz="1400" b="1" dirty="0">
                <a:solidFill>
                  <a:srgbClr val="98A3AD"/>
                </a:solidFill>
              </a:rPr>
              <a:t> for each country.</a:t>
            </a:r>
          </a:p>
        </p:txBody>
      </p:sp>
      <p:pic>
        <p:nvPicPr>
          <p:cNvPr id="36" name="Picture 35" descr="This is an icon of a human being. ">
            <a:extLst>
              <a:ext uri="{FF2B5EF4-FFF2-40B4-BE49-F238E27FC236}">
                <a16:creationId xmlns:a16="http://schemas.microsoft.com/office/drawing/2014/main" id="{EFE128DB-38AB-50C9-B4A5-72E59FFA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588" y="3330620"/>
            <a:ext cx="278755" cy="31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8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2022D1-ECE0-1474-028C-B795A530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222" y="2247391"/>
            <a:ext cx="4434840" cy="76233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5" name="Picture Placeholder 34" descr="logo">
            <a:extLst>
              <a:ext uri="{FF2B5EF4-FFF2-40B4-BE49-F238E27FC236}">
                <a16:creationId xmlns:a16="http://schemas.microsoft.com/office/drawing/2014/main" id="{612EBE90-AF1B-3712-DB79-B4832E3156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593" r="13593"/>
          <a:stretch/>
        </p:blipFill>
        <p:spPr>
          <a:xfrm>
            <a:off x="1516380" y="1730247"/>
            <a:ext cx="3657600" cy="3472282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33A49E-B51D-1395-EC68-B125A03571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7222" y="3748147"/>
            <a:ext cx="4434840" cy="1454381"/>
          </a:xfrm>
        </p:spPr>
        <p:txBody>
          <a:bodyPr/>
          <a:lstStyle/>
          <a:p>
            <a:r>
              <a:rPr lang="en-US" dirty="0"/>
              <a:t>Sonu Jain</a:t>
            </a:r>
          </a:p>
          <a:p>
            <a:r>
              <a:rPr lang="en-US" dirty="0"/>
              <a:t>sonu@fourthcoffee.com</a:t>
            </a:r>
          </a:p>
          <a:p>
            <a:r>
              <a:rPr lang="en-US" dirty="0"/>
              <a:t>405-555-0145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05850E-5CFC-6B9C-18D3-4C2F45AC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7028" y="1787525"/>
            <a:ext cx="3383280" cy="3383280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6EA99-2506-470C-350E-4AC2CA7327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7D7CD-5546-5C34-895B-0EA214ECAE21}"/>
              </a:ext>
            </a:extLst>
          </p:cNvPr>
          <p:cNvSpPr txBox="1"/>
          <p:nvPr/>
        </p:nvSpPr>
        <p:spPr>
          <a:xfrm>
            <a:off x="5370625" y="1391693"/>
            <a:ext cx="38935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r>
              <a:rPr lang="en-IN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C1702640-6C39-AA83-A9C6-86C9E55375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233" r="233"/>
          <a:stretch>
            <a:fillRect/>
          </a:stretch>
        </p:blipFill>
        <p:spPr/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2DF0D0B-145E-0194-4F52-05F94DF5B532}"/>
              </a:ext>
            </a:extLst>
          </p:cNvPr>
          <p:cNvSpPr txBox="1"/>
          <p:nvPr/>
        </p:nvSpPr>
        <p:spPr>
          <a:xfrm>
            <a:off x="467496" y="2934847"/>
            <a:ext cx="5682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IN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9207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60">
      <a:dk1>
        <a:srgbClr val="000000"/>
      </a:dk1>
      <a:lt1>
        <a:srgbClr val="FFFFFF"/>
      </a:lt1>
      <a:dk2>
        <a:srgbClr val="E2D4C0"/>
      </a:dk2>
      <a:lt2>
        <a:srgbClr val="E6E6E6"/>
      </a:lt2>
      <a:accent1>
        <a:srgbClr val="E2CBB9"/>
      </a:accent1>
      <a:accent2>
        <a:srgbClr val="843F00"/>
      </a:accent2>
      <a:accent3>
        <a:srgbClr val="562F08"/>
      </a:accent3>
      <a:accent4>
        <a:srgbClr val="91CF50"/>
      </a:accent4>
      <a:accent5>
        <a:srgbClr val="2B9C4F"/>
      </a:accent5>
      <a:accent6>
        <a:srgbClr val="0B7149"/>
      </a:accent6>
      <a:hlink>
        <a:srgbClr val="FFF8F9"/>
      </a:hlink>
      <a:folHlink>
        <a:srgbClr val="2B6ACD"/>
      </a:folHlink>
    </a:clrScheme>
    <a:fontScheme name="Custom 7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01884_Win32_SL_v5" id="{7AFE633C-0110-4F77-84ED-A8BF8EBFD362}" vid="{80EE89D2-E5CC-48AF-BB35-D1580B918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10185-06BE-4162-BEE1-5DC8B9C9C1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AE634-DEC4-4395-A997-0E4563AFF1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DD14FD-BC23-4945-A0FC-5BDE75B3D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Coffee Shop Business Pitch Deck</Template>
  <TotalTime>127</TotalTime>
  <Words>485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Lato</vt:lpstr>
      <vt:lpstr>Lato Black</vt:lpstr>
      <vt:lpstr>Times New Roman</vt:lpstr>
      <vt:lpstr>Custom</vt:lpstr>
      <vt:lpstr>Investor Opportunity</vt:lpstr>
      <vt:lpstr>Business Context</vt:lpstr>
      <vt:lpstr>   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Salvi</dc:creator>
  <cp:lastModifiedBy>Sarthak Salvi</cp:lastModifiedBy>
  <cp:revision>4</cp:revision>
  <dcterms:created xsi:type="dcterms:W3CDTF">2025-09-10T17:17:56Z</dcterms:created>
  <dcterms:modified xsi:type="dcterms:W3CDTF">2025-11-29T07:57:13Z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